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615" r:id="rId2"/>
    <p:sldId id="278" r:id="rId3"/>
    <p:sldId id="1167" r:id="rId4"/>
    <p:sldId id="1168" r:id="rId5"/>
    <p:sldId id="279" r:id="rId6"/>
    <p:sldId id="280" r:id="rId7"/>
    <p:sldId id="281" r:id="rId8"/>
    <p:sldId id="282" r:id="rId9"/>
    <p:sldId id="284" r:id="rId10"/>
    <p:sldId id="287" r:id="rId11"/>
    <p:sldId id="283" r:id="rId12"/>
    <p:sldId id="299" r:id="rId13"/>
    <p:sldId id="300" r:id="rId14"/>
    <p:sldId id="289" r:id="rId15"/>
    <p:sldId id="302" r:id="rId16"/>
    <p:sldId id="301" r:id="rId17"/>
    <p:sldId id="1169" r:id="rId18"/>
    <p:sldId id="1170" r:id="rId19"/>
    <p:sldId id="290" r:id="rId20"/>
    <p:sldId id="303" r:id="rId21"/>
    <p:sldId id="291" r:id="rId22"/>
    <p:sldId id="304" r:id="rId23"/>
    <p:sldId id="292" r:id="rId24"/>
    <p:sldId id="305" r:id="rId25"/>
    <p:sldId id="293" r:id="rId26"/>
    <p:sldId id="306" r:id="rId27"/>
    <p:sldId id="294" r:id="rId28"/>
    <p:sldId id="307" r:id="rId29"/>
    <p:sldId id="295" r:id="rId30"/>
    <p:sldId id="1171" r:id="rId31"/>
    <p:sldId id="296" r:id="rId32"/>
    <p:sldId id="309" r:id="rId33"/>
    <p:sldId id="297" r:id="rId34"/>
    <p:sldId id="310" r:id="rId35"/>
    <p:sldId id="286" r:id="rId36"/>
    <p:sldId id="298" r:id="rId37"/>
    <p:sldId id="1172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9E75F-BB71-4554-8BB6-FCF66D2EF83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D89DB-4180-4AAD-8F07-35A2E6C50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01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01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097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255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323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54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931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586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928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93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507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903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918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073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846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255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238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134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976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995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90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00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5328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3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315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808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326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05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5940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804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1339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9654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793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18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439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B1883-1188-403E-B4F5-E17DE76EC02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50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39CF5-F910-4F90-BD46-D105B1427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70A59B-7E53-4B13-AC63-057D7E673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8B5EB9-4134-4D22-8BB4-4E673081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E60A06-E384-452B-A556-28336164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86A5D-FACA-479A-A530-5EBF35D5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78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AFC79-C62B-4176-A15A-0DA1C411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103C5-4ED0-4D45-B905-F234DDD7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02980-A55D-426B-8E15-81679D8A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E41AA1-6109-4A61-91BC-929B0015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6056F3-FCFD-4D79-8858-7F5F0734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26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1DE14-818B-486E-99A9-7F7BBEE2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B128F1-831A-4B02-BE00-C61EFE985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8E044-8B6C-4346-ACF8-C4B095FF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C2514D-EDAE-4B3F-A7E1-99390293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D9DA5A-4420-4D21-8B28-DE62341C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13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F4418-D920-466C-8823-57A37D4F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55776-D4C6-4690-81EC-A4A810FCD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96004F-4B90-4AD8-AADA-CDE45CCEB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9BEC0-FADF-48C5-9869-EEC30C05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BEBAC9-DED0-493D-97C6-DF9B5001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D5BF31-E09E-4110-8849-AB42C7D5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A0E25-847E-4F14-91E3-192091DF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1A51E9-F11F-489C-88C8-7B17B49D6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3470E8-B949-40AC-862A-7B0D5C35B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0624F1-00BE-47E2-A28D-4DAB4ABA6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87BB7B-C684-414A-9215-0C7456264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C94B2C-0798-490D-89C5-B14897D4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724FF9-FCB4-407C-9EB4-370651CD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773C55-56C3-48AC-BF38-E4CF1E7F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5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8BD7F-29E0-47CF-A3F8-DD8E322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D4C931-4393-475C-8C31-67454513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0EEE63-0884-484D-8214-669E9B36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DBD4C-B1E8-4A0B-9486-EE52A0FC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6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E16A3-EC55-4A15-A733-5C30268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69AC0E-FAC8-4427-8FDC-A86F76B1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A9157-3C82-47C3-8834-9F3D0F71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29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6D30C-904A-4720-9118-0AE3CA05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229962-1CC9-45C6-BEDC-A6716CA8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CF85AA-CED0-44C1-BAA9-391FF5743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531C26-0A71-4B9B-9072-4E8BFD4A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48B127-3BC6-4A70-B542-5CA8A76C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E3A4F-FBBD-436E-A258-03A8215A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2A4FB-44D6-4EE1-BAC7-B19AA135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E0E1C1-D52E-4E2C-8F80-31983B7CB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D7E6F4-D82A-45E6-ABF3-8EA440BF9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95D7C-6816-43E3-B0A8-41F96708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96C0A-E05C-4A3C-8B6D-07789CCB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01EBD7-752E-4746-BA1C-3A03FA17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8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E9D72-928F-4F03-844D-9F276ECF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6AEC9-7F43-4021-B076-B8B2CB3D1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FC12E-0340-444C-B261-78755133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B04295-AB72-48C6-9525-1384A714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3F62A-8FAC-46C9-9EC5-806BED50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63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F7528F-2E09-43A9-8BF2-5901E9CCB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7DCF74-DF05-4025-9092-5B0E57D6D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C81496-6F0C-47F9-ADA6-76D5DD80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2BBD4-AB0D-4396-90F9-1A1A661F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E3E948-52E9-4977-AE46-CD8770C7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69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8324C0-DACC-4924-8066-48DF37D5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65AA1-E80C-401D-8986-5539AABBF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0EF909-7C80-4ECE-9B10-A4BA24647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A712E-700B-4DBC-AEB3-E919C0643517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AC650D-6D6A-4784-B729-CA276E335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9A52A2-5867-4A7E-9732-4C8DD27AF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6879F-602D-43F1-A7B7-C8BD34B41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35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.gi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hyperlink" Target="http://ko.wikipedia.org/wiki/%EB%AC%BC%EC%A7%88%EB%8C%80%EC%82%AC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ko.wikipedia.org/w/index.php?title=%EC%82%B0%ED%99%94%EC%A0%81_%EC%9D%B8%EC%82%B0%ED%99%94&amp;action=edit&amp;redlink=1" TargetMode="External"/><Relationship Id="rId5" Type="http://schemas.openxmlformats.org/officeDocument/2006/relationships/hyperlink" Target="http://ko.wikipedia.org/w/index.php?title=TCA&amp;action=edit&amp;redlink=1" TargetMode="External"/><Relationship Id="rId4" Type="http://schemas.openxmlformats.org/officeDocument/2006/relationships/hyperlink" Target="http://ko.wikipedia.org/wiki/%ED%8F%AC%EB%8F%84%EB%8B%B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4.gi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hyperlink" Target="http://en.wikipedia.org/wiki/File:GLO1_Homo_sapiens_small_fast.gif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GLO1_Homo_sapiens_small_fast.gi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hyperlink" Target="http://geneticpeople.com/?attachment_id=826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ko.wikipedia.org/wiki/%EC%95%8C%EC%BD%94%EC%98%AC" TargetMode="External"/><Relationship Id="rId5" Type="http://schemas.openxmlformats.org/officeDocument/2006/relationships/hyperlink" Target="https://ko.wikipedia.org/wiki/%EC%B9%B4%EB%A5%B4%EB%B3%B4%EB%8B%90%EA%B8%B0" TargetMode="External"/><Relationship Id="rId4" Type="http://schemas.openxmlformats.org/officeDocument/2006/relationships/hyperlink" Target="https://ko.wikipedia.org/wiki/%EC%BC%80%ED%86%A4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media.tumblr.com/tumblr_lt8yhtotxs1qjfvkd.gif"/>
          <p:cNvPicPr>
            <a:picLocks noChangeAspect="1" noChangeArrowheads="1"/>
          </p:cNvPicPr>
          <p:nvPr/>
        </p:nvPicPr>
        <p:blipFill>
          <a:blip r:embed="rId2" cstate="print"/>
          <a:srcRect l="44415" t="16380" r="1721" b="5921"/>
          <a:stretch>
            <a:fillRect/>
          </a:stretch>
        </p:blipFill>
        <p:spPr bwMode="auto">
          <a:xfrm>
            <a:off x="1703512" y="260648"/>
            <a:ext cx="865264" cy="936104"/>
          </a:xfrm>
          <a:prstGeom prst="rect">
            <a:avLst/>
          </a:prstGeom>
          <a:noFill/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67608" y="457508"/>
            <a:ext cx="51845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맑은 고딕" pitchFamily="50" charset="-127"/>
                <a:ea typeface="맑은 고딕" pitchFamily="50" charset="-127"/>
              </a:rPr>
              <a:t>7.1 </a:t>
            </a:r>
            <a:r>
              <a:rPr lang="ko-KR" altLang="en-US" sz="28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당분해</a:t>
            </a:r>
            <a:r>
              <a:rPr lang="en-US" altLang="ko-KR" sz="28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8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해당</a:t>
            </a:r>
            <a:r>
              <a:rPr lang="en-US" altLang="ko-KR" sz="28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28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Glycolysis</a:t>
            </a:r>
            <a:r>
              <a:rPr lang="en-US" altLang="ko-KR" sz="28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999657" y="1556792"/>
            <a:ext cx="6112619" cy="4098404"/>
            <a:chOff x="3707904" y="2060848"/>
            <a:chExt cx="6112619" cy="4098404"/>
          </a:xfrm>
        </p:grpSpPr>
        <p:pic>
          <p:nvPicPr>
            <p:cNvPr id="9" name="Picture 10" descr="http://kimwootae.com.ne.kr/bio2/2/3TypesCellRespiration.gi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67944" y="2060848"/>
              <a:ext cx="5752579" cy="4098404"/>
            </a:xfrm>
            <a:prstGeom prst="rect">
              <a:avLst/>
            </a:prstGeom>
            <a:noFill/>
          </p:spPr>
        </p:pic>
        <p:grpSp>
          <p:nvGrpSpPr>
            <p:cNvPr id="10" name="그룹 9"/>
            <p:cNvGrpSpPr/>
            <p:nvPr/>
          </p:nvGrpSpPr>
          <p:grpSpPr>
            <a:xfrm>
              <a:off x="3707904" y="3140968"/>
              <a:ext cx="2448272" cy="1264206"/>
              <a:chOff x="1187624" y="2060848"/>
              <a:chExt cx="2448272" cy="1264206"/>
            </a:xfrm>
          </p:grpSpPr>
          <p:sp>
            <p:nvSpPr>
              <p:cNvPr id="11" name="모서리가 둥근 직사각형 10"/>
              <p:cNvSpPr/>
              <p:nvPr/>
            </p:nvSpPr>
            <p:spPr>
              <a:xfrm>
                <a:off x="1187624" y="2060848"/>
                <a:ext cx="2448272" cy="122413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3203848" y="2924944"/>
                <a:ext cx="33374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rgbClr val="FF0000"/>
                    </a:solidFill>
                    <a:latin typeface="+mn-ea"/>
                  </a:rPr>
                  <a:t>1</a:t>
                </a:r>
                <a:endParaRPr lang="ko-KR" altLang="en-US" sz="20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6516216" y="3140968"/>
              <a:ext cx="1584176" cy="1224136"/>
              <a:chOff x="3995936" y="2060848"/>
              <a:chExt cx="1584176" cy="1224136"/>
            </a:xfrm>
          </p:grpSpPr>
          <p:sp>
            <p:nvSpPr>
              <p:cNvPr id="14" name="모서리가 둥근 직사각형 13"/>
              <p:cNvSpPr/>
              <p:nvPr/>
            </p:nvSpPr>
            <p:spPr>
              <a:xfrm>
                <a:off x="3995936" y="2060848"/>
                <a:ext cx="1584176" cy="122413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5156602" y="2879570"/>
                <a:ext cx="33374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rgbClr val="FF0000"/>
                    </a:solidFill>
                    <a:latin typeface="+mn-ea"/>
                  </a:rPr>
                  <a:t>2</a:t>
                </a:r>
                <a:endParaRPr lang="ko-KR" altLang="en-US" sz="20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8100392" y="3140968"/>
              <a:ext cx="1584176" cy="1246450"/>
              <a:chOff x="5580112" y="2060848"/>
              <a:chExt cx="1584176" cy="1246450"/>
            </a:xfrm>
          </p:grpSpPr>
          <p:sp>
            <p:nvSpPr>
              <p:cNvPr id="17" name="모서리가 둥근 직사각형 16"/>
              <p:cNvSpPr/>
              <p:nvPr/>
            </p:nvSpPr>
            <p:spPr>
              <a:xfrm>
                <a:off x="5580112" y="2060848"/>
                <a:ext cx="1584176" cy="122413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6813126" y="2907188"/>
                <a:ext cx="33374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rgbClr val="FF0000"/>
                    </a:solidFill>
                    <a:latin typeface="+mn-ea"/>
                  </a:rPr>
                  <a:t>3</a:t>
                </a:r>
                <a:endParaRPr lang="ko-KR" altLang="en-US" sz="20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02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6F515AB6-5961-4733-AC99-EB8E93BAE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951" y="1340768"/>
            <a:ext cx="3811392" cy="335640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663952" y="1340768"/>
            <a:ext cx="4752528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FFFF00"/>
                </a:solidFill>
              </a:rPr>
              <a:t>1. </a:t>
            </a:r>
            <a:r>
              <a:rPr lang="ko-KR" altLang="en-US" sz="1600" dirty="0" err="1">
                <a:solidFill>
                  <a:srgbClr val="FFFF00"/>
                </a:solidFill>
              </a:rPr>
              <a:t>세포밖</a:t>
            </a:r>
            <a:r>
              <a:rPr lang="ko-KR" altLang="en-US" sz="1600" dirty="0">
                <a:solidFill>
                  <a:srgbClr val="FFFF00"/>
                </a:solidFill>
              </a:rPr>
              <a:t> 기질 및 세포벽 다당류의 합성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FFFF00"/>
                </a:solidFill>
              </a:rPr>
              <a:t>2. </a:t>
            </a:r>
            <a:r>
              <a:rPr lang="ko-KR" altLang="en-US" sz="1600" dirty="0">
                <a:solidFill>
                  <a:srgbClr val="FFFF00"/>
                </a:solidFill>
              </a:rPr>
              <a:t>다당류 또는 설탕으로 저장</a:t>
            </a:r>
          </a:p>
          <a:p>
            <a:pPr marL="266700" indent="-266700">
              <a:lnSpc>
                <a:spcPct val="150000"/>
              </a:lnSpc>
            </a:pPr>
            <a:r>
              <a:rPr lang="en-US" altLang="ko-KR" sz="1600" dirty="0">
                <a:solidFill>
                  <a:srgbClr val="FFFF00"/>
                </a:solidFill>
              </a:rPr>
              <a:t>3. </a:t>
            </a:r>
            <a:r>
              <a:rPr lang="ko-KR" altLang="en-US" sz="1600" dirty="0">
                <a:solidFill>
                  <a:srgbClr val="FFFF00"/>
                </a:solidFill>
              </a:rPr>
              <a:t>인산 </a:t>
            </a:r>
            <a:r>
              <a:rPr lang="ko-KR" altLang="en-US" sz="1600" dirty="0" err="1">
                <a:solidFill>
                  <a:srgbClr val="FFFF00"/>
                </a:solidFill>
              </a:rPr>
              <a:t>오탄당</a:t>
            </a:r>
            <a:r>
              <a:rPr lang="ko-KR" altLang="en-US" sz="1600" dirty="0">
                <a:solidFill>
                  <a:srgbClr val="FFFF00"/>
                </a:solidFill>
              </a:rPr>
              <a:t> 회로에 의해서 </a:t>
            </a:r>
            <a:r>
              <a:rPr lang="en-US" altLang="ko-KR" sz="1600" dirty="0">
                <a:solidFill>
                  <a:srgbClr val="FFFF00"/>
                </a:solidFill>
              </a:rPr>
              <a:t>5</a:t>
            </a:r>
            <a:r>
              <a:rPr lang="ko-KR" altLang="en-US" sz="1600" dirty="0" err="1">
                <a:solidFill>
                  <a:srgbClr val="FFFF00"/>
                </a:solidFill>
              </a:rPr>
              <a:t>탄당으로</a:t>
            </a:r>
            <a:r>
              <a:rPr lang="ko-KR" altLang="en-US" sz="1600" dirty="0">
                <a:solidFill>
                  <a:srgbClr val="FFFF00"/>
                </a:solidFill>
              </a:rPr>
              <a:t> 산화 </a:t>
            </a:r>
            <a:endParaRPr lang="en-US" altLang="ko-KR" sz="1600" dirty="0">
              <a:solidFill>
                <a:srgbClr val="FFFF00"/>
              </a:solidFill>
            </a:endParaRPr>
          </a:p>
          <a:p>
            <a:pPr marL="266700" indent="-266700">
              <a:lnSpc>
                <a:spcPct val="150000"/>
              </a:lnSpc>
            </a:pPr>
            <a:r>
              <a:rPr lang="en-US" altLang="ko-KR" sz="1600" dirty="0">
                <a:solidFill>
                  <a:srgbClr val="FFFF00"/>
                </a:solidFill>
              </a:rPr>
              <a:t>   (</a:t>
            </a:r>
            <a:r>
              <a:rPr lang="ko-KR" altLang="en-US" sz="1600" dirty="0">
                <a:solidFill>
                  <a:srgbClr val="FFFF00"/>
                </a:solidFill>
              </a:rPr>
              <a:t>핵산생산</a:t>
            </a:r>
            <a:r>
              <a:rPr lang="en-US" altLang="ko-KR" sz="1600" dirty="0">
                <a:solidFill>
                  <a:srgbClr val="FFFF00"/>
                </a:solidFill>
              </a:rPr>
              <a:t>)</a:t>
            </a:r>
            <a:endParaRPr lang="ko-KR" altLang="en-US" sz="1600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FFFF00"/>
                </a:solidFill>
              </a:rPr>
              <a:t>4. </a:t>
            </a:r>
            <a:r>
              <a:rPr lang="ko-KR" altLang="en-US" sz="1600" dirty="0">
                <a:solidFill>
                  <a:srgbClr val="FFFF00"/>
                </a:solidFill>
              </a:rPr>
              <a:t>해당과정에서 </a:t>
            </a:r>
            <a:r>
              <a:rPr lang="ko-KR" altLang="en-US" sz="1600" dirty="0" err="1">
                <a:solidFill>
                  <a:srgbClr val="FFFF00"/>
                </a:solidFill>
              </a:rPr>
              <a:t>파이루브산으로</a:t>
            </a:r>
            <a:r>
              <a:rPr lang="ko-KR" altLang="en-US" sz="1600" dirty="0">
                <a:solidFill>
                  <a:srgbClr val="FFFF00"/>
                </a:solidFill>
              </a:rPr>
              <a:t> 산화</a:t>
            </a:r>
            <a:r>
              <a:rPr lang="en-US" altLang="ko-KR" sz="1600" dirty="0">
                <a:solidFill>
                  <a:srgbClr val="FFFF00"/>
                </a:solidFill>
              </a:rPr>
              <a:t>(</a:t>
            </a:r>
            <a:r>
              <a:rPr lang="ko-KR" altLang="en-US" sz="1600" dirty="0">
                <a:solidFill>
                  <a:srgbClr val="FFFF00"/>
                </a:solidFill>
              </a:rPr>
              <a:t>에너지대사</a:t>
            </a:r>
            <a:r>
              <a:rPr lang="en-US" altLang="ko-KR" sz="1600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719739" y="404664"/>
            <a:ext cx="49169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2000" b="1" dirty="0">
                <a:solidFill>
                  <a:srgbClr val="FF0000"/>
                </a:solidFill>
              </a:rPr>
              <a:t>고등생물에서의 포도당 이용의 주요경로</a:t>
            </a:r>
          </a:p>
        </p:txBody>
      </p:sp>
      <p:sp>
        <p:nvSpPr>
          <p:cNvPr id="6" name="부제목 2"/>
          <p:cNvSpPr txBox="1">
            <a:spLocks/>
          </p:cNvSpPr>
          <p:nvPr/>
        </p:nvSpPr>
        <p:spPr>
          <a:xfrm>
            <a:off x="3199519" y="5012174"/>
            <a:ext cx="1440160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14-1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503055" y="2193908"/>
            <a:ext cx="4051286" cy="2950546"/>
            <a:chOff x="1979055" y="2193908"/>
            <a:chExt cx="4051286" cy="2950546"/>
          </a:xfrm>
        </p:grpSpPr>
        <p:sp>
          <p:nvSpPr>
            <p:cNvPr id="8" name="타원 7"/>
            <p:cNvSpPr/>
            <p:nvPr/>
          </p:nvSpPr>
          <p:spPr>
            <a:xfrm rot="2789033">
              <a:off x="1320252" y="2852711"/>
              <a:ext cx="2950546" cy="16329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4067944" y="4221088"/>
              <a:ext cx="1962397" cy="400110"/>
            </a:xfrm>
            <a:prstGeom prst="rect">
              <a:avLst/>
            </a:prstGeom>
            <a:solidFill>
              <a:srgbClr val="99FF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atinLnBrk="0"/>
              <a:r>
                <a:rPr lang="ko-KR" altLang="en-US" sz="2000" b="1" dirty="0">
                  <a:latin typeface="Times New Roman" pitchFamily="18" charset="0"/>
                  <a:cs typeface="Arial" charset="0"/>
                </a:rPr>
                <a:t>해당</a:t>
              </a:r>
              <a:r>
                <a:rPr lang="en-US" altLang="ko-KR" sz="2000" b="1" dirty="0">
                  <a:latin typeface="Times New Roman" pitchFamily="18" charset="0"/>
                  <a:cs typeface="Arial" charset="0"/>
                </a:rPr>
                <a:t>(</a:t>
              </a:r>
              <a:r>
                <a:rPr lang="en-US" altLang="ko-KR" sz="2000" b="1" dirty="0" err="1">
                  <a:latin typeface="Times New Roman" pitchFamily="18" charset="0"/>
                  <a:cs typeface="Arial" charset="0"/>
                </a:rPr>
                <a:t>Glycolysis</a:t>
              </a:r>
              <a:r>
                <a:rPr lang="en-US" altLang="ko-KR" sz="2000" b="1" dirty="0">
                  <a:latin typeface="Times New Roman" pitchFamily="18" charset="0"/>
                  <a:cs typeface="Arial" charset="0"/>
                </a:rPr>
                <a:t>)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769316" y="3553852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④</a:t>
            </a:r>
            <a:endParaRPr lang="ko-KR" altLang="en-US" sz="2800" dirty="0"/>
          </a:p>
        </p:txBody>
      </p:sp>
      <p:sp>
        <p:nvSpPr>
          <p:cNvPr id="12" name="직사각형 11"/>
          <p:cNvSpPr/>
          <p:nvPr/>
        </p:nvSpPr>
        <p:spPr>
          <a:xfrm>
            <a:off x="2887968" y="1916832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①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824072" y="1943798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②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927651" y="3553852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③</a:t>
            </a:r>
            <a:endParaRPr lang="ko-KR" altLang="en-US" dirty="0"/>
          </a:p>
        </p:txBody>
      </p:sp>
      <p:pic>
        <p:nvPicPr>
          <p:cNvPr id="15" name="Picture 2" descr="http://media.tumblr.com/tumblr_lt8yhtotxs1qjfvkd.gif"/>
          <p:cNvPicPr>
            <a:picLocks noChangeAspect="1" noChangeArrowheads="1"/>
          </p:cNvPicPr>
          <p:nvPr/>
        </p:nvPicPr>
        <p:blipFill>
          <a:blip r:embed="rId5" cstate="print"/>
          <a:srcRect l="44415" t="16380" r="1721" b="5921"/>
          <a:stretch>
            <a:fillRect/>
          </a:stretch>
        </p:blipFill>
        <p:spPr bwMode="auto">
          <a:xfrm>
            <a:off x="1524000" y="0"/>
            <a:ext cx="865264" cy="936104"/>
          </a:xfrm>
          <a:prstGeom prst="rect">
            <a:avLst/>
          </a:prstGeom>
          <a:noFill/>
        </p:spPr>
      </p:pic>
      <p:sp>
        <p:nvSpPr>
          <p:cNvPr id="16" name="포인트가 5개인 별 15"/>
          <p:cNvSpPr/>
          <p:nvPr/>
        </p:nvSpPr>
        <p:spPr>
          <a:xfrm>
            <a:off x="8544272" y="4221088"/>
            <a:ext cx="1872208" cy="1512168"/>
          </a:xfrm>
          <a:prstGeom prst="star5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109672" y="4509120"/>
            <a:ext cx="8899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NADPH</a:t>
            </a:r>
            <a:endParaRPr lang="ko-KR" altLang="en-US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082"/>
    </mc:Choice>
    <mc:Fallback xmlns="">
      <p:transition spd="slow" advTm="1110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47528" y="1340771"/>
            <a:ext cx="828092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800" b="1" dirty="0">
                <a:solidFill>
                  <a:srgbClr val="FF0000"/>
                </a:solidFill>
              </a:rPr>
              <a:t>해당(解糖 :</a:t>
            </a:r>
            <a:r>
              <a:rPr lang="en-US" altLang="ko-KR" sz="2800" b="1" dirty="0">
                <a:solidFill>
                  <a:srgbClr val="FF0000"/>
                </a:solidFill>
              </a:rPr>
              <a:t> </a:t>
            </a:r>
            <a:r>
              <a:rPr lang="ko-KR" altLang="ko-KR" sz="2800" b="1" dirty="0">
                <a:solidFill>
                  <a:srgbClr val="FF0000"/>
                </a:solidFill>
              </a:rPr>
              <a:t>Glycolysis</a:t>
            </a:r>
            <a:r>
              <a:rPr lang="ko-KR" altLang="ko-KR" sz="2800" dirty="0">
                <a:solidFill>
                  <a:srgbClr val="FF0000"/>
                </a:solidFill>
              </a:rPr>
              <a:t>)</a:t>
            </a:r>
            <a:r>
              <a:rPr lang="ko-KR" altLang="ko-KR" dirty="0"/>
              <a:t>은 당을 분해하여 에너지를 얻는 </a:t>
            </a:r>
            <a:r>
              <a:rPr lang="ko-KR" altLang="ko-KR" dirty="0">
                <a:hlinkClick r:id="rId3" action="ppaction://hlinkfile" tooltip="물질대사"/>
              </a:rPr>
              <a:t>물질대사</a:t>
            </a:r>
            <a:r>
              <a:rPr lang="ko-KR" altLang="ko-KR" dirty="0"/>
              <a:t>의 한 과정을 의미한다. 세포호흡의 첫 번째 단계로 해당과정이 일어난 후에는 </a:t>
            </a:r>
            <a:r>
              <a:rPr lang="ko-KR" altLang="ko-KR" b="1" dirty="0" err="1"/>
              <a:t>피루브산</a:t>
            </a:r>
            <a:r>
              <a:rPr lang="ko-KR" altLang="ko-KR" b="1" dirty="0"/>
              <a:t> 산화, TCA회로, 전자전달계</a:t>
            </a:r>
            <a:r>
              <a:rPr lang="ko-KR" altLang="ko-KR" dirty="0"/>
              <a:t>가</a:t>
            </a:r>
            <a:r>
              <a:rPr lang="ko-KR" altLang="ko-KR" b="1" dirty="0"/>
              <a:t> </a:t>
            </a:r>
            <a:r>
              <a:rPr lang="ko-KR" altLang="ko-KR" dirty="0"/>
              <a:t>에너지를 만들게 된다. 생명체가 기본적으로 사용하는 에너지원은 아데노신 </a:t>
            </a:r>
            <a:r>
              <a:rPr lang="ko-KR" altLang="ko-KR" dirty="0" err="1"/>
              <a:t>삼인산</a:t>
            </a:r>
            <a:r>
              <a:rPr lang="ko-KR" altLang="ko-KR" dirty="0"/>
              <a:t>(ATP)인데, 이는 일반적으로 </a:t>
            </a:r>
            <a:r>
              <a:rPr lang="ko-KR" altLang="ko-KR" dirty="0">
                <a:hlinkClick r:id="rId4" action="ppaction://hlinkfile" tooltip="포도당"/>
              </a:rPr>
              <a:t>포도당</a:t>
            </a:r>
            <a:r>
              <a:rPr lang="ko-KR" altLang="ko-KR" dirty="0"/>
              <a:t>을 분해하는 과정에서 나오는 에너지를 이용하여 합성하고 있다. 해당과정은 미토콘드리아 내부가 아닌 </a:t>
            </a:r>
            <a:r>
              <a:rPr lang="ko-KR" altLang="ko-KR" b="1" dirty="0">
                <a:solidFill>
                  <a:srgbClr val="FF0000"/>
                </a:solidFill>
              </a:rPr>
              <a:t>세포질</a:t>
            </a:r>
            <a:r>
              <a:rPr lang="ko-KR" altLang="ko-KR" dirty="0"/>
              <a:t>에서 일어나며 기질수준인산화로 </a:t>
            </a:r>
            <a:r>
              <a:rPr lang="ko-KR" altLang="ko-KR" b="1" dirty="0">
                <a:solidFill>
                  <a:srgbClr val="FF0000"/>
                </a:solidFill>
              </a:rPr>
              <a:t>포도당 1분자당 </a:t>
            </a:r>
            <a:r>
              <a:rPr lang="ko-KR" altLang="ko-KR" b="1" u="sng" dirty="0">
                <a:solidFill>
                  <a:srgbClr val="FF0000"/>
                </a:solidFill>
              </a:rPr>
              <a:t>2개의 ATP</a:t>
            </a:r>
            <a:r>
              <a:rPr lang="ko-KR" altLang="ko-KR" b="1" dirty="0">
                <a:solidFill>
                  <a:srgbClr val="FF0000"/>
                </a:solidFill>
              </a:rPr>
              <a:t>와 </a:t>
            </a:r>
            <a:r>
              <a:rPr lang="ko-KR" altLang="ko-KR" b="1" u="sng" dirty="0">
                <a:solidFill>
                  <a:srgbClr val="FF0000"/>
                </a:solidFill>
              </a:rPr>
              <a:t>2개의 NADH</a:t>
            </a:r>
            <a:r>
              <a:rPr lang="ko-KR" altLang="ko-KR" b="1" dirty="0">
                <a:solidFill>
                  <a:srgbClr val="FF0000"/>
                </a:solidFill>
              </a:rPr>
              <a:t>, </a:t>
            </a:r>
            <a:r>
              <a:rPr lang="ko-KR" altLang="ko-KR" b="1" u="sng" dirty="0">
                <a:solidFill>
                  <a:srgbClr val="FF0000"/>
                </a:solidFill>
              </a:rPr>
              <a:t>2개의 </a:t>
            </a:r>
            <a:r>
              <a:rPr lang="ko-KR" altLang="ko-KR" b="1" u="sng" dirty="0" err="1">
                <a:solidFill>
                  <a:srgbClr val="FF0000"/>
                </a:solidFill>
              </a:rPr>
              <a:t>피루브산</a:t>
            </a:r>
            <a:r>
              <a:rPr lang="ko-KR" altLang="ko-KR" dirty="0" err="1"/>
              <a:t>을</a:t>
            </a:r>
            <a:r>
              <a:rPr lang="ko-KR" altLang="ko-KR" dirty="0"/>
              <a:t> 만들게 된다. </a:t>
            </a:r>
            <a:r>
              <a:rPr lang="ko-KR" altLang="ko-KR" u="sng" dirty="0">
                <a:solidFill>
                  <a:srgbClr val="FF0000"/>
                </a:solidFill>
              </a:rPr>
              <a:t>이산화탄소의 방출</a:t>
            </a:r>
            <a:r>
              <a:rPr lang="ko-KR" altLang="ko-KR" dirty="0">
                <a:solidFill>
                  <a:srgbClr val="FF0000"/>
                </a:solidFill>
              </a:rPr>
              <a:t>은 일어나지 않으며 </a:t>
            </a:r>
            <a:r>
              <a:rPr lang="ko-KR" altLang="ko-KR" u="sng" dirty="0">
                <a:solidFill>
                  <a:srgbClr val="FF0000"/>
                </a:solidFill>
              </a:rPr>
              <a:t>산소의 사용</a:t>
            </a:r>
            <a:r>
              <a:rPr lang="ko-KR" altLang="ko-KR" dirty="0">
                <a:solidFill>
                  <a:srgbClr val="FF0000"/>
                </a:solidFill>
              </a:rPr>
              <a:t>도 없다</a:t>
            </a:r>
            <a:r>
              <a:rPr lang="ko-KR" altLang="ko-KR" dirty="0"/>
              <a:t>. 해당과정은 </a:t>
            </a:r>
            <a:r>
              <a:rPr lang="ko-KR" altLang="ko-KR" dirty="0">
                <a:hlinkClick r:id="rId5" action="ppaction://hlinkfile" tooltip="TCA (없는 문서)"/>
              </a:rPr>
              <a:t>TCA</a:t>
            </a:r>
            <a:r>
              <a:rPr lang="ko-KR" altLang="ko-KR" dirty="0"/>
              <a:t>, </a:t>
            </a:r>
            <a:r>
              <a:rPr lang="ko-KR" altLang="ko-KR" dirty="0">
                <a:hlinkClick r:id="rId6" action="ppaction://hlinkfile" tooltip="산화적 인산화 (없는 문서)"/>
              </a:rPr>
              <a:t>산화적 인산화</a:t>
            </a:r>
            <a:r>
              <a:rPr lang="ko-KR" altLang="ko-KR" dirty="0"/>
              <a:t>와 달리 물질대사를 하는 모든 </a:t>
            </a:r>
            <a:r>
              <a:rPr lang="ko-KR" altLang="ko-KR" dirty="0" err="1"/>
              <a:t>원핵</a:t>
            </a:r>
            <a:r>
              <a:rPr lang="ko-KR" altLang="ko-KR" dirty="0"/>
              <a:t>,</a:t>
            </a:r>
            <a:r>
              <a:rPr lang="en-US" altLang="ko-KR" dirty="0"/>
              <a:t> </a:t>
            </a:r>
            <a:r>
              <a:rPr lang="ko-KR" altLang="ko-KR" dirty="0" err="1"/>
              <a:t>진핵세포</a:t>
            </a:r>
            <a:r>
              <a:rPr lang="ko-KR" altLang="ko-KR" dirty="0"/>
              <a:t> 내에서 일어나는 과정이다.</a:t>
            </a:r>
          </a:p>
        </p:txBody>
      </p:sp>
      <p:pic>
        <p:nvPicPr>
          <p:cNvPr id="5" name="Picture 6" descr="http://laeeq.com/wp-content/uploads/2011/07/wikipedia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048328" y="51650"/>
            <a:ext cx="1584176" cy="1526218"/>
          </a:xfrm>
          <a:prstGeom prst="rect">
            <a:avLst/>
          </a:prstGeom>
          <a:noFill/>
        </p:spPr>
      </p:pic>
      <p:pic>
        <p:nvPicPr>
          <p:cNvPr id="6" name="Picture 2" descr="http://media.tumblr.com/tumblr_lt8yhtotxs1qjfvkd.gif"/>
          <p:cNvPicPr>
            <a:picLocks noChangeAspect="1" noChangeArrowheads="1"/>
          </p:cNvPicPr>
          <p:nvPr/>
        </p:nvPicPr>
        <p:blipFill>
          <a:blip r:embed="rId8" cstate="print"/>
          <a:srcRect l="44415" t="16380" r="1721" b="5921"/>
          <a:stretch>
            <a:fillRect/>
          </a:stretch>
        </p:blipFill>
        <p:spPr bwMode="auto">
          <a:xfrm>
            <a:off x="1524000" y="0"/>
            <a:ext cx="865264" cy="93610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45"/>
    </mc:Choice>
    <mc:Fallback xmlns="">
      <p:transition spd="slow" advTm="4944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359699" y="231034"/>
            <a:ext cx="5415265" cy="461665"/>
          </a:xfrm>
          <a:prstGeom prst="rect">
            <a:avLst/>
          </a:prstGeom>
          <a:solidFill>
            <a:srgbClr val="99FF33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ko-KR" altLang="en-US" sz="2400" b="1" dirty="0">
                <a:latin typeface="Times New Roman" pitchFamily="18" charset="0"/>
                <a:cs typeface="Arial" charset="0"/>
              </a:rPr>
              <a:t>해당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altLang="ko-KR" sz="2400" b="1" dirty="0" err="1">
                <a:latin typeface="Times New Roman" pitchFamily="18" charset="0"/>
                <a:cs typeface="Arial" charset="0"/>
              </a:rPr>
              <a:t>Glycolysis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)</a:t>
            </a:r>
            <a:r>
              <a:rPr lang="ko-KR" altLang="en-US" sz="2400" b="1" dirty="0">
                <a:latin typeface="Times New Roman" pitchFamily="18" charset="0"/>
                <a:cs typeface="Arial" charset="0"/>
              </a:rPr>
              <a:t>과정 공부 시 중요한 점</a:t>
            </a:r>
            <a:endParaRPr lang="en-US" altLang="ko-KR" sz="2400" b="1" dirty="0">
              <a:latin typeface="Times New Roman" pitchFamily="18" charset="0"/>
              <a:cs typeface="Arial" charset="0"/>
            </a:endParaRPr>
          </a:p>
        </p:txBody>
      </p:sp>
      <p:pic>
        <p:nvPicPr>
          <p:cNvPr id="3" name="Picture 2" descr="161"/>
          <p:cNvPicPr>
            <a:picLocks noChangeAspect="1" noChangeArrowheads="1"/>
          </p:cNvPicPr>
          <p:nvPr/>
        </p:nvPicPr>
        <p:blipFill>
          <a:blip r:embed="rId3" cstate="print">
            <a:lum contrast="6000"/>
          </a:blip>
          <a:srcRect/>
          <a:stretch>
            <a:fillRect/>
          </a:stretch>
        </p:blipFill>
        <p:spPr bwMode="auto">
          <a:xfrm>
            <a:off x="7389810" y="980728"/>
            <a:ext cx="3242694" cy="5112568"/>
          </a:xfrm>
          <a:prstGeom prst="rect">
            <a:avLst/>
          </a:prstGeom>
          <a:noFill/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639567" y="1268763"/>
            <a:ext cx="3689985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1.Hexose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가 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Triose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로 변화하는 과정</a:t>
            </a:r>
            <a:endParaRPr lang="en-US" altLang="ko-KR" b="1" dirty="0">
              <a:solidFill>
                <a:srgbClr val="0070C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631507" y="2060851"/>
            <a:ext cx="6145785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2. ATP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의 인산화 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: </a:t>
            </a:r>
            <a:r>
              <a:rPr lang="en-US" altLang="ko-KR" b="1" dirty="0">
                <a:latin typeface="Times New Roman" pitchFamily="18" charset="0"/>
                <a:cs typeface="Arial" charset="0"/>
              </a:rPr>
              <a:t>ATP</a:t>
            </a:r>
            <a:r>
              <a:rPr lang="ko-KR" altLang="en-US" b="1" dirty="0">
                <a:latin typeface="Times New Roman" pitchFamily="18" charset="0"/>
                <a:cs typeface="Arial" charset="0"/>
              </a:rPr>
              <a:t>를 얼마나 소모하며 생산하는지 중요</a:t>
            </a:r>
            <a:endParaRPr lang="en-US" altLang="ko-KR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616666" y="2924947"/>
            <a:ext cx="6423553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3. 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수소원자와 전자의 이동으로 에너지 재생산 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: </a:t>
            </a:r>
            <a:r>
              <a:rPr lang="en-US" altLang="ko-KR" b="1" dirty="0">
                <a:latin typeface="Times New Roman" pitchFamily="18" charset="0"/>
                <a:cs typeface="Arial" charset="0"/>
              </a:rPr>
              <a:t>NADH</a:t>
            </a:r>
            <a:r>
              <a:rPr lang="ko-KR" altLang="en-US" b="1" dirty="0">
                <a:latin typeface="Times New Roman" pitchFamily="18" charset="0"/>
                <a:cs typeface="Arial" charset="0"/>
              </a:rPr>
              <a:t>의 생성</a:t>
            </a:r>
            <a:endParaRPr lang="en-US" altLang="ko-KR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31504" y="3785268"/>
            <a:ext cx="4397358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4. 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해당과정을 조절하는 효소는 무엇인지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?</a:t>
            </a:r>
            <a:endParaRPr lang="en-US" altLang="ko-KR" b="1" dirty="0">
              <a:solidFill>
                <a:srgbClr val="0070C0"/>
              </a:solidFill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156"/>
    </mc:Choice>
    <mc:Fallback xmlns="">
      <p:transition spd="slow" advTm="15815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063555" y="188643"/>
            <a:ext cx="2321469" cy="461665"/>
          </a:xfrm>
          <a:prstGeom prst="rect">
            <a:avLst/>
          </a:prstGeom>
          <a:solidFill>
            <a:srgbClr val="99FF33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ko-KR" altLang="en-US" sz="2400" b="1" dirty="0">
                <a:latin typeface="Times New Roman" pitchFamily="18" charset="0"/>
                <a:cs typeface="Arial" charset="0"/>
              </a:rPr>
              <a:t>해당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altLang="ko-KR" sz="2400" b="1" dirty="0" err="1">
                <a:latin typeface="Times New Roman" pitchFamily="18" charset="0"/>
                <a:cs typeface="Arial" charset="0"/>
              </a:rPr>
              <a:t>Glycolysis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75520" y="767604"/>
            <a:ext cx="4896544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dirty="0">
                <a:latin typeface="Times New Roman" pitchFamily="18" charset="0"/>
                <a:cs typeface="Arial" charset="0"/>
              </a:rPr>
              <a:t> 해당과정은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포도당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이 일련의 반응을 거쳐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분자의 </a:t>
            </a:r>
            <a:r>
              <a:rPr lang="ko-KR" altLang="en-US" sz="1600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파이루브산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altLang="ko-KR" sz="1600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pyruvate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으로 분해되면서 </a:t>
            </a:r>
            <a:r>
              <a:rPr lang="en-US" altLang="ko-KR" sz="1600" b="1" dirty="0">
                <a:solidFill>
                  <a:srgbClr val="00B0F0"/>
                </a:solidFill>
                <a:latin typeface="Times New Roman" pitchFamily="18" charset="0"/>
                <a:cs typeface="Arial" charset="0"/>
              </a:rPr>
              <a:t>ATP</a:t>
            </a:r>
            <a:r>
              <a:rPr lang="ko-KR" altLang="en-US" sz="1600" b="1" dirty="0">
                <a:solidFill>
                  <a:srgbClr val="00B0F0"/>
                </a:solidFill>
                <a:latin typeface="Times New Roman" pitchFamily="18" charset="0"/>
                <a:cs typeface="Arial" charset="0"/>
              </a:rPr>
              <a:t>를</a:t>
            </a:r>
            <a:r>
              <a:rPr lang="en-US" altLang="ko-KR" sz="1600" dirty="0">
                <a:solidFill>
                  <a:srgbClr val="00B0F0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ko-KR" altLang="en-US" sz="1600" b="1" dirty="0">
                <a:solidFill>
                  <a:srgbClr val="00B0F0"/>
                </a:solidFill>
                <a:latin typeface="Times New Roman" pitchFamily="18" charset="0"/>
                <a:cs typeface="Arial" charset="0"/>
              </a:rPr>
              <a:t>생성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하는 과정</a:t>
            </a:r>
            <a:endParaRPr lang="en-US" altLang="ko-KR" sz="1600" dirty="0">
              <a:latin typeface="Times New Roman" pitchFamily="18" charset="0"/>
              <a:cs typeface="Arial" charset="0"/>
            </a:endParaRPr>
          </a:p>
          <a:p>
            <a:pPr latinLnBrk="0">
              <a:lnSpc>
                <a:spcPct val="150000"/>
              </a:lnSpc>
              <a:buFontTx/>
              <a:buChar char="•"/>
            </a:pPr>
            <a:endParaRPr lang="en-US" altLang="ko-KR" sz="1600" dirty="0">
              <a:latin typeface="Times New Roman" pitchFamily="18" charset="0"/>
              <a:cs typeface="Arial" charset="0"/>
            </a:endParaRPr>
          </a:p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b="1" dirty="0">
                <a:latin typeface="Times New Roman" pitchFamily="18" charset="0"/>
                <a:cs typeface="Arial" charset="0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세포질</a:t>
            </a:r>
            <a:r>
              <a:rPr lang="ko-KR" altLang="en-US" sz="16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내에서 산소가 없이 일어난다</a:t>
            </a:r>
            <a:r>
              <a:rPr lang="en-US" altLang="ko-KR" sz="1600" dirty="0">
                <a:latin typeface="Times New Roman" pitchFamily="18" charset="0"/>
                <a:cs typeface="Arial" charset="0"/>
              </a:rPr>
              <a:t>.</a:t>
            </a:r>
          </a:p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dirty="0">
                <a:latin typeface="Times New Roman" pitchFamily="18" charset="0"/>
                <a:cs typeface="Arial" charset="0"/>
              </a:rPr>
              <a:t> 탄수화물 분해의 중심경로</a:t>
            </a:r>
          </a:p>
          <a:p>
            <a:pPr latinLnBrk="0">
              <a:lnSpc>
                <a:spcPct val="150000"/>
              </a:lnSpc>
            </a:pPr>
            <a:endParaRPr lang="en-US" altLang="ko-KR" sz="1600" dirty="0">
              <a:latin typeface="Times New Roman" pitchFamily="18" charset="0"/>
              <a:cs typeface="Arial" charset="0"/>
            </a:endParaRPr>
          </a:p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b="1" dirty="0">
                <a:latin typeface="+mn-ea"/>
              </a:rPr>
              <a:t> 유기 호흡을 할 때 </a:t>
            </a:r>
            <a:r>
              <a:rPr lang="en-US" altLang="ko-KR" sz="1600" dirty="0">
                <a:latin typeface="+mn-ea"/>
              </a:rPr>
              <a:t>-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TCA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회로</a:t>
            </a:r>
            <a:r>
              <a:rPr lang="ko-KR" altLang="en-US" sz="1600" dirty="0">
                <a:latin typeface="+mn-ea"/>
              </a:rPr>
              <a:t>로 들어감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b="1" dirty="0">
                <a:latin typeface="+mn-ea"/>
              </a:rPr>
              <a:t> 무기 호흡을 할 때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젖산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젖산발효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), 	 		               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에탄올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알코올발효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 된다</a:t>
            </a:r>
            <a:endParaRPr lang="en-US" altLang="ko-KR" sz="1600" dirty="0">
              <a:latin typeface="+mn-ea"/>
            </a:endParaRPr>
          </a:p>
          <a:p>
            <a:pPr latinLnBrk="0">
              <a:lnSpc>
                <a:spcPct val="150000"/>
              </a:lnSpc>
              <a:buFontTx/>
              <a:buChar char="•"/>
            </a:pPr>
            <a:endParaRPr lang="en-US" altLang="ko-KR" sz="1600" dirty="0">
              <a:latin typeface="+mn-ea"/>
            </a:endParaRPr>
          </a:p>
          <a:p>
            <a:pPr latinLnBrk="0">
              <a:lnSpc>
                <a:spcPct val="150000"/>
              </a:lnSpc>
              <a:buFontTx/>
              <a:buChar char="•"/>
            </a:pPr>
            <a:r>
              <a:rPr lang="ko-KR" altLang="en-US" sz="1600" dirty="0">
                <a:latin typeface="Times New Roman" pitchFamily="18" charset="0"/>
                <a:cs typeface="Arial" charset="0"/>
              </a:rPr>
              <a:t> 하나의 포도당 분자로 </a:t>
            </a:r>
            <a:r>
              <a:rPr lang="ko-KR" altLang="en-US" sz="1600" dirty="0" err="1">
                <a:latin typeface="Times New Roman" pitchFamily="18" charset="0"/>
                <a:cs typeface="Arial" charset="0"/>
              </a:rPr>
              <a:t>부터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개의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ATP</a:t>
            </a:r>
            <a:r>
              <a:rPr lang="en-US" altLang="ko-KR" sz="1600" dirty="0">
                <a:latin typeface="Times New Roman" pitchFamily="18" charset="0"/>
                <a:cs typeface="Arial" charset="0"/>
              </a:rPr>
              <a:t>(4ATP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생성</a:t>
            </a:r>
            <a:r>
              <a:rPr lang="en-US" altLang="ko-KR" sz="1600" dirty="0">
                <a:latin typeface="Times New Roman" pitchFamily="18" charset="0"/>
                <a:cs typeface="Arial" charset="0"/>
              </a:rPr>
              <a:t>-2ATP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소모</a:t>
            </a:r>
            <a:r>
              <a:rPr lang="en-US" altLang="ko-KR" sz="1600" dirty="0">
                <a:latin typeface="Times New Roman" pitchFamily="18" charset="0"/>
                <a:cs typeface="Arial" charset="0"/>
              </a:rPr>
              <a:t>) 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와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2NADH</a:t>
            </a:r>
            <a:r>
              <a:rPr lang="ko-KR" altLang="en-US" sz="1600" dirty="0">
                <a:latin typeface="Times New Roman" pitchFamily="18" charset="0"/>
                <a:cs typeface="Arial" charset="0"/>
              </a:rPr>
              <a:t>가 생성된다</a:t>
            </a:r>
            <a:r>
              <a:rPr lang="en-US" altLang="ko-KR" sz="1600" dirty="0">
                <a:latin typeface="Times New Roman" pitchFamily="18" charset="0"/>
                <a:cs typeface="Arial" charset="0"/>
              </a:rPr>
              <a:t>. </a:t>
            </a:r>
            <a:r>
              <a:rPr lang="ko-KR" altLang="en-US" sz="1600" dirty="0">
                <a:latin typeface="+mn-ea"/>
              </a:rPr>
              <a:t> </a:t>
            </a:r>
          </a:p>
        </p:txBody>
      </p:sp>
      <p:pic>
        <p:nvPicPr>
          <p:cNvPr id="6" name="Picture 2" descr="161"/>
          <p:cNvPicPr>
            <a:picLocks noChangeAspect="1" noChangeArrowheads="1"/>
          </p:cNvPicPr>
          <p:nvPr/>
        </p:nvPicPr>
        <p:blipFill>
          <a:blip r:embed="rId3" cstate="print">
            <a:lum contrast="6000"/>
          </a:blip>
          <a:srcRect/>
          <a:stretch>
            <a:fillRect/>
          </a:stretch>
        </p:blipFill>
        <p:spPr bwMode="auto">
          <a:xfrm>
            <a:off x="6636096" y="404664"/>
            <a:ext cx="3420347" cy="539266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58"/>
    </mc:Choice>
    <mc:Fallback xmlns="">
      <p:transition spd="slow" advTm="525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87688" y="1700808"/>
            <a:ext cx="5256584" cy="4176464"/>
            <a:chOff x="1448038" y="476672"/>
            <a:chExt cx="6522735" cy="5663553"/>
          </a:xfrm>
        </p:grpSpPr>
        <p:pic>
          <p:nvPicPr>
            <p:cNvPr id="5" name="Picture 6" descr="f18-01A.jpg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75656" y="476672"/>
              <a:ext cx="6495117" cy="2771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6" descr="f18-01B.jpg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48038" y="3232700"/>
              <a:ext cx="6408712" cy="2907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855643" y="698674"/>
            <a:ext cx="6846233" cy="78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전반부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(4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또는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 5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개 반응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–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From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1Glucose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to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2Glyceraldehyde-3-phosphates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후반부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(5</a:t>
            </a:r>
            <a:r>
              <a:rPr lang="ko-KR" altLang="en-US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개 반응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–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From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2Glyceraldehyde-3-phosphates 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to</a:t>
            </a:r>
            <a:r>
              <a:rPr lang="en-US" altLang="ko-KR" sz="16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2Pyruvate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59496" y="2494640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1. preparatory phase(</a:t>
            </a:r>
            <a:r>
              <a:rPr lang="ko-KR" altLang="en-US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준비기</a:t>
            </a:r>
            <a:r>
              <a:rPr lang="en-US" altLang="ko-KR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)</a:t>
            </a:r>
            <a:endParaRPr lang="ko-KR" altLang="en-US" b="1" dirty="0">
              <a:solidFill>
                <a:srgbClr val="FF0000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256243" y="2915652"/>
            <a:ext cx="240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2. payoff(</a:t>
            </a:r>
            <a:r>
              <a:rPr lang="ko-KR" altLang="en-US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보수기</a:t>
            </a:r>
            <a:r>
              <a:rPr lang="en-US" altLang="ko-KR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,</a:t>
            </a:r>
            <a:r>
              <a:rPr lang="ko-KR" altLang="en-US" b="1" dirty="0">
                <a:solidFill>
                  <a:srgbClr val="FF0000"/>
                </a:solidFill>
                <a:latin typeface="휴먼매직체" pitchFamily="18" charset="-127"/>
                <a:ea typeface="휴먼매직체" pitchFamily="18" charset="-127"/>
              </a:rPr>
              <a:t>지급기)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362150" y="159026"/>
            <a:ext cx="3029997" cy="461665"/>
          </a:xfrm>
          <a:prstGeom prst="rect">
            <a:avLst/>
          </a:prstGeom>
          <a:solidFill>
            <a:srgbClr val="99FF33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ko-KR" altLang="en-US" sz="2400" b="1" dirty="0">
                <a:latin typeface="Times New Roman" pitchFamily="18" charset="0"/>
                <a:cs typeface="Arial" charset="0"/>
              </a:rPr>
              <a:t>해당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(</a:t>
            </a:r>
            <a:r>
              <a:rPr lang="en-US" altLang="ko-KR" sz="2400" b="1" dirty="0" err="1">
                <a:latin typeface="Times New Roman" pitchFamily="18" charset="0"/>
                <a:cs typeface="Arial" charset="0"/>
              </a:rPr>
              <a:t>Glycolysis</a:t>
            </a:r>
            <a:r>
              <a:rPr lang="en-US" altLang="ko-KR" sz="2400" b="1" dirty="0">
                <a:latin typeface="Times New Roman" pitchFamily="18" charset="0"/>
                <a:cs typeface="Arial" charset="0"/>
              </a:rPr>
              <a:t>) </a:t>
            </a:r>
            <a:r>
              <a:rPr lang="ko-KR" altLang="en-US" sz="2400" b="1" dirty="0">
                <a:latin typeface="Times New Roman" pitchFamily="18" charset="0"/>
                <a:cs typeface="Arial" charset="0"/>
              </a:rPr>
              <a:t>과정</a:t>
            </a:r>
            <a:endParaRPr lang="en-US" altLang="ko-KR" sz="2400" b="1" dirty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047"/>
    </mc:Choice>
    <mc:Fallback xmlns="">
      <p:transition spd="slow" advTm="4204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C41C647-4087-4A02-B3F3-F775F8F0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762" y="692696"/>
            <a:ext cx="6249742" cy="563095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03512" y="116635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1. preparatory phase(</a:t>
            </a:r>
            <a:r>
              <a:rPr lang="ko-KR" altLang="en-US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준비기</a:t>
            </a:r>
            <a:r>
              <a:rPr lang="en-US" altLang="ko-KR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)</a:t>
            </a:r>
            <a:endParaRPr lang="ko-KR" altLang="en-US" sz="2400" b="1" dirty="0">
              <a:solidFill>
                <a:srgbClr val="2885C4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775520" y="1268760"/>
            <a:ext cx="273630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latinLnBrk="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CC0000"/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2분자의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ATP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가 사용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algn="just" latinLnBrk="0">
              <a:lnSpc>
                <a:spcPct val="150000"/>
              </a:lnSpc>
              <a:buFontTx/>
              <a:buChar char="-"/>
            </a:pPr>
            <a:endParaRPr lang="en-US" altLang="ko-KR" sz="1600" b="1" dirty="0">
              <a:solidFill>
                <a:srgbClr val="CC0000"/>
              </a:solidFill>
              <a:latin typeface="+mn-ea"/>
            </a:endParaRPr>
          </a:p>
          <a:p>
            <a:pPr algn="just" latinLnBrk="0"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 err="1">
                <a:latin typeface="+mn-ea"/>
              </a:rPr>
              <a:t>헥소스의</a:t>
            </a:r>
            <a:r>
              <a:rPr lang="ko-KR" altLang="en-US" sz="1600" b="1" dirty="0">
                <a:latin typeface="+mn-ea"/>
              </a:rPr>
              <a:t> 탄소 사슬은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-인산글리세르알데하이드 </a:t>
            </a:r>
            <a:r>
              <a:rPr lang="ko-KR" altLang="en-US" sz="1600" b="1" dirty="0">
                <a:latin typeface="+mn-ea"/>
              </a:rPr>
              <a:t>의 형으로 변환</a:t>
            </a:r>
            <a:endParaRPr lang="en-US" altLang="ko-KR" sz="1600" b="1" dirty="0">
              <a:latin typeface="+mn-ea"/>
            </a:endParaRPr>
          </a:p>
          <a:p>
            <a:pPr algn="just" latinLnBrk="0">
              <a:lnSpc>
                <a:spcPct val="150000"/>
              </a:lnSpc>
              <a:buFontTx/>
              <a:buChar char="-"/>
            </a:pPr>
            <a:endParaRPr lang="en-US" altLang="ko-KR" sz="1600" b="1" dirty="0">
              <a:latin typeface="+mn-ea"/>
            </a:endParaRPr>
          </a:p>
          <a:p>
            <a:pPr algn="just" latinLnBrk="0"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- 5</a:t>
            </a:r>
            <a:r>
              <a:rPr lang="ko-KR" altLang="en-US" sz="1600" b="1" dirty="0">
                <a:latin typeface="+mn-ea"/>
              </a:rPr>
              <a:t>단계로 구성</a:t>
            </a:r>
          </a:p>
        </p:txBody>
      </p:sp>
      <p:sp>
        <p:nvSpPr>
          <p:cNvPr id="7" name="부제목 2"/>
          <p:cNvSpPr txBox="1">
            <a:spLocks/>
          </p:cNvSpPr>
          <p:nvPr/>
        </p:nvSpPr>
        <p:spPr>
          <a:xfrm>
            <a:off x="8328248" y="6438049"/>
            <a:ext cx="1440160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14-2-1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86"/>
    </mc:Choice>
    <mc:Fallback xmlns="">
      <p:transition spd="slow" advTm="2218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775523" y="188643"/>
            <a:ext cx="3302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2. payoff(</a:t>
            </a:r>
            <a:r>
              <a:rPr lang="ko-KR" altLang="en-US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보수기</a:t>
            </a:r>
            <a:r>
              <a:rPr lang="en-US" altLang="ko-KR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, </a:t>
            </a:r>
            <a:r>
              <a:rPr lang="ko-KR" altLang="en-US" sz="2400" b="1" dirty="0">
                <a:solidFill>
                  <a:srgbClr val="2885C4"/>
                </a:solidFill>
                <a:latin typeface="휴먼매직체" pitchFamily="18" charset="-127"/>
                <a:ea typeface="휴먼매직체" pitchFamily="18" charset="-127"/>
              </a:rPr>
              <a:t>지급기)</a:t>
            </a:r>
            <a:endParaRPr lang="ko-KR" altLang="en-US" sz="2400" b="1" dirty="0"/>
          </a:p>
        </p:txBody>
      </p:sp>
      <p:sp>
        <p:nvSpPr>
          <p:cNvPr id="6" name="부제목 2"/>
          <p:cNvSpPr txBox="1">
            <a:spLocks/>
          </p:cNvSpPr>
          <p:nvPr/>
        </p:nvSpPr>
        <p:spPr>
          <a:xfrm>
            <a:off x="9192344" y="6165304"/>
            <a:ext cx="1475656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14-2-2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775522" y="1124747"/>
            <a:ext cx="3096342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latinLnBrk="0"/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- ATP 4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분자</a:t>
            </a:r>
            <a:r>
              <a:rPr lang="ko-KR" altLang="en-US" sz="1600" b="1" dirty="0">
                <a:latin typeface="+mn-ea"/>
              </a:rPr>
              <a:t>와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NADH 2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분자</a:t>
            </a:r>
            <a:r>
              <a:rPr lang="ko-KR" altLang="en-US" sz="1600" b="1" dirty="0">
                <a:latin typeface="+mn-ea"/>
              </a:rPr>
              <a:t>가 생성</a:t>
            </a:r>
            <a:r>
              <a:rPr lang="en-US" altLang="ko-KR" sz="1600" b="1" dirty="0">
                <a:latin typeface="+mn-ea"/>
              </a:rPr>
              <a:t> </a:t>
            </a:r>
          </a:p>
          <a:p>
            <a:pPr algn="just" latinLnBrk="0"/>
            <a:endParaRPr lang="en-US" altLang="ko-KR" sz="1600" dirty="0">
              <a:latin typeface="+mn-ea"/>
            </a:endParaRPr>
          </a:p>
          <a:p>
            <a:pPr algn="just" latinLnBrk="0">
              <a:buFontTx/>
              <a:buChar char="-"/>
            </a:pP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3-</a:t>
            </a:r>
            <a:r>
              <a:rPr lang="ko-KR" altLang="en-US" sz="1600" dirty="0">
                <a:latin typeface="+mn-ea"/>
              </a:rPr>
              <a:t>인산 </a:t>
            </a:r>
            <a:r>
              <a:rPr lang="ko-KR" altLang="en-US" sz="1600" dirty="0" err="1">
                <a:latin typeface="+mn-ea"/>
              </a:rPr>
              <a:t>글리세르알데히드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2</a:t>
            </a:r>
            <a:r>
              <a:rPr lang="ko-KR" altLang="en-US" sz="1600" dirty="0">
                <a:latin typeface="+mn-ea"/>
              </a:rPr>
              <a:t>분자는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분자의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파이루브산</a:t>
            </a:r>
            <a:r>
              <a:rPr lang="ko-KR" altLang="en-US" sz="1600" dirty="0" err="1">
                <a:latin typeface="+mn-ea"/>
              </a:rPr>
              <a:t>으로</a:t>
            </a:r>
            <a:r>
              <a:rPr lang="ko-KR" altLang="en-US" sz="1600" dirty="0">
                <a:latin typeface="+mn-ea"/>
              </a:rPr>
              <a:t> 산화</a:t>
            </a:r>
            <a:endParaRPr lang="en-US" altLang="ko-KR" sz="1600" dirty="0">
              <a:latin typeface="+mn-ea"/>
            </a:endParaRPr>
          </a:p>
          <a:p>
            <a:pPr algn="just" latinLnBrk="0">
              <a:buFontTx/>
              <a:buChar char="-"/>
            </a:pPr>
            <a:endParaRPr lang="en-US" altLang="ko-KR" sz="1600" dirty="0">
              <a:latin typeface="+mn-ea"/>
            </a:endParaRPr>
          </a:p>
          <a:p>
            <a:pPr algn="just" latinLnBrk="0">
              <a:buFontTx/>
              <a:buChar char="-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/>
              <a:t>5</a:t>
            </a:r>
            <a:r>
              <a:rPr lang="ko-KR" altLang="en-US" sz="1600" dirty="0"/>
              <a:t>단계로 구성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8E566E-4BB5-4A69-9E44-624DCEB7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17" y="1196752"/>
            <a:ext cx="5894191" cy="4738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40"/>
    </mc:Choice>
    <mc:Fallback xmlns="">
      <p:transition spd="slow" advTm="5434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059CAA3-7974-484E-A987-F5C7669D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122" y="476672"/>
            <a:ext cx="4457375" cy="56166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1B7E0E-32F9-471D-A513-61A790CBB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3" y="476672"/>
            <a:ext cx="4280255" cy="56166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부제목 2">
            <a:extLst>
              <a:ext uri="{FF2B5EF4-FFF2-40B4-BE49-F238E27FC236}">
                <a16:creationId xmlns:a16="http://schemas.microsoft.com/office/drawing/2014/main" id="{F12DC1E5-EBDD-46C9-88CF-655AA96F151A}"/>
              </a:ext>
            </a:extLst>
          </p:cNvPr>
          <p:cNvSpPr txBox="1">
            <a:spLocks/>
          </p:cNvSpPr>
          <p:nvPr/>
        </p:nvSpPr>
        <p:spPr>
          <a:xfrm>
            <a:off x="5447928" y="6381328"/>
            <a:ext cx="1475656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14-3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4"/>
    </mc:Choice>
    <mc:Fallback xmlns="">
      <p:transition spd="slow" advTm="837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359696" y="188640"/>
            <a:ext cx="5482952" cy="70609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ko-KR" altLang="en-US" sz="2800" b="1" dirty="0">
                <a:solidFill>
                  <a:srgbClr val="FF0000"/>
                </a:solidFill>
                <a:latin typeface="+mn-ea"/>
                <a:cs typeface="+mj-cs"/>
              </a:rPr>
              <a:t>해당과정의 주요반응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919536" y="692696"/>
            <a:ext cx="8352928" cy="2952328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dirty="0">
                <a:latin typeface="+mn-ea"/>
              </a:rPr>
              <a:t>   </a:t>
            </a:r>
            <a:r>
              <a:rPr lang="en-US" altLang="ko-KR" b="1" dirty="0">
                <a:latin typeface="+mn-ea"/>
              </a:rPr>
              <a:t>①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인산기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전달 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( 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phosphoryl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transfer) </a:t>
            </a:r>
            <a:r>
              <a:rPr lang="en-US" altLang="ko-KR" dirty="0">
                <a:latin typeface="+mn-ea"/>
              </a:rPr>
              <a:t>: ATP</a:t>
            </a:r>
            <a:r>
              <a:rPr lang="ko-KR" altLang="en-US" dirty="0">
                <a:latin typeface="+mn-ea"/>
              </a:rPr>
              <a:t>로부터 </a:t>
            </a:r>
            <a:r>
              <a:rPr lang="ko-KR" altLang="en-US" dirty="0" err="1">
                <a:latin typeface="+mn-ea"/>
              </a:rPr>
              <a:t>인산기</a:t>
            </a:r>
            <a:r>
              <a:rPr lang="ko-KR" altLang="en-US" dirty="0">
                <a:latin typeface="+mn-ea"/>
              </a:rPr>
              <a:t> 전달 </a:t>
            </a:r>
          </a:p>
          <a:p>
            <a:pPr marL="625475" indent="-625475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dirty="0">
                <a:latin typeface="+mn-ea"/>
              </a:rPr>
              <a:t> </a:t>
            </a:r>
            <a:r>
              <a:rPr lang="ko-KR" altLang="en-US" b="1" dirty="0">
                <a:latin typeface="+mn-ea"/>
              </a:rPr>
              <a:t>  </a:t>
            </a:r>
            <a:r>
              <a:rPr lang="en-US" altLang="ko-KR" b="1" dirty="0">
                <a:latin typeface="+mn-ea"/>
              </a:rPr>
              <a:t>②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인산기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이동 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Phosphoryl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shift)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한 분자 내에서 </a:t>
            </a:r>
            <a:r>
              <a:rPr lang="ko-KR" altLang="en-US" dirty="0" err="1">
                <a:latin typeface="+mn-ea"/>
              </a:rPr>
              <a:t>인산기가</a:t>
            </a:r>
            <a:r>
              <a:rPr lang="ko-KR" altLang="en-US" dirty="0">
                <a:latin typeface="+mn-ea"/>
              </a:rPr>
              <a:t> 다른 산소원자로 이동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dirty="0">
                <a:latin typeface="+mn-ea"/>
              </a:rPr>
              <a:t>   </a:t>
            </a:r>
            <a:r>
              <a:rPr lang="en-US" altLang="ko-KR" b="1" dirty="0">
                <a:latin typeface="+mn-ea"/>
              </a:rPr>
              <a:t>③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이성질화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Isomerization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화학식은 같으나 다른 모양의 화합물로 변화 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dirty="0">
                <a:latin typeface="+mn-ea"/>
              </a:rPr>
              <a:t>   </a:t>
            </a:r>
            <a:r>
              <a:rPr lang="en-US" altLang="ko-KR" b="1" dirty="0">
                <a:latin typeface="+mn-ea"/>
              </a:rPr>
              <a:t>④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탈수 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(Dehydration)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물 분자의 제거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dirty="0">
                <a:latin typeface="+mn-ea"/>
              </a:rPr>
              <a:t>   </a:t>
            </a:r>
            <a:r>
              <a:rPr lang="en-US" altLang="ko-KR" b="1" dirty="0">
                <a:latin typeface="+mn-ea"/>
              </a:rPr>
              <a:t>⑤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알돌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분해 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Aldol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cleavage)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탄소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탄소 결합의 분해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57F5A5-6E88-4391-8A6C-62A2CFCF8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5" y="3429000"/>
            <a:ext cx="3676365" cy="33123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D60034-9641-4D61-99E2-56D485503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054" y="3429000"/>
            <a:ext cx="4119942" cy="331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590"/>
    </mc:Choice>
    <mc:Fallback xmlns="">
      <p:transition spd="slow" advTm="1315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3" cstate="print"/>
          <a:srcRect b="18750"/>
          <a:stretch>
            <a:fillRect/>
          </a:stretch>
        </p:blipFill>
        <p:spPr bwMode="auto">
          <a:xfrm>
            <a:off x="1703512" y="1772816"/>
            <a:ext cx="425128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2"/>
          <p:cNvSpPr/>
          <p:nvPr/>
        </p:nvSpPr>
        <p:spPr>
          <a:xfrm>
            <a:off x="1847528" y="519066"/>
            <a:ext cx="58625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2400" b="1" dirty="0">
                <a:latin typeface="+mn-ea"/>
              </a:rPr>
              <a:t>포도당의 인산화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 err="1">
                <a:latin typeface="+mn-ea"/>
              </a:rPr>
              <a:t>인산기</a:t>
            </a:r>
            <a:r>
              <a:rPr lang="ko-KR" altLang="en-US" sz="2400" b="1" dirty="0">
                <a:latin typeface="+mn-ea"/>
              </a:rPr>
              <a:t> 전달반응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867274" y="-31159"/>
            <a:ext cx="4275722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-</a:t>
            </a:r>
            <a:r>
              <a:rPr lang="ko-KR" altLang="en-US" b="1" i="1" dirty="0" err="1">
                <a:solidFill>
                  <a:srgbClr val="00B050"/>
                </a:solidFill>
                <a:latin typeface="+mn-ea"/>
              </a:rPr>
              <a:t>당분해의</a:t>
            </a:r>
            <a:r>
              <a:rPr lang="ko-KR" altLang="en-US" b="1" i="1" dirty="0">
                <a:solidFill>
                  <a:srgbClr val="00B050"/>
                </a:solidFill>
                <a:latin typeface="+mn-ea"/>
              </a:rPr>
              <a:t> 준비기에는 </a:t>
            </a: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ATP</a:t>
            </a:r>
            <a:r>
              <a:rPr lang="ko-KR" altLang="en-US" b="1" i="1" dirty="0">
                <a:solidFill>
                  <a:srgbClr val="00B050"/>
                </a:solidFill>
                <a:latin typeface="+mn-ea"/>
              </a:rPr>
              <a:t>가 필요하다</a:t>
            </a: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-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279576" y="1150625"/>
            <a:ext cx="3816424" cy="41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latin typeface="Times New Roman" pitchFamily="18" charset="0"/>
                <a:cs typeface="Arial" charset="0"/>
              </a:rPr>
              <a:t>- </a:t>
            </a:r>
            <a:r>
              <a:rPr lang="ko-KR" altLang="en-US" sz="1600" b="1" dirty="0" err="1">
                <a:latin typeface="Times New Roman" pitchFamily="18" charset="0"/>
                <a:cs typeface="Arial" charset="0"/>
              </a:rPr>
              <a:t>글루코스의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 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6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번 탄소가 인산화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-</a:t>
            </a:r>
          </a:p>
        </p:txBody>
      </p:sp>
      <p:pic>
        <p:nvPicPr>
          <p:cNvPr id="6" name="Picture 7" descr="18f04.jpg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2024" y="1628800"/>
            <a:ext cx="4176464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456040" y="1124747"/>
            <a:ext cx="3816424" cy="41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latin typeface="Times New Roman" pitchFamily="18" charset="0"/>
                <a:cs typeface="Arial" charset="0"/>
              </a:rPr>
              <a:t>- </a:t>
            </a:r>
            <a:r>
              <a:rPr lang="ko-KR" altLang="en-US" sz="1600" b="1" dirty="0" err="1">
                <a:latin typeface="Times New Roman" pitchFamily="18" charset="0"/>
                <a:cs typeface="Arial" charset="0"/>
              </a:rPr>
              <a:t>인산화반응으로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 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세포가 얻는 이점</a:t>
            </a:r>
            <a:endParaRPr lang="en-US" altLang="ko-KR" sz="1600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12024" y="4221088"/>
            <a:ext cx="4176464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ko-KR" altLang="en-US" sz="1400" b="1" dirty="0" err="1">
                <a:latin typeface="Times New Roman" pitchFamily="18" charset="0"/>
                <a:cs typeface="Arial" charset="0"/>
              </a:rPr>
              <a:t>글루코스</a:t>
            </a:r>
            <a:r>
              <a:rPr lang="en-US" altLang="ko-KR" sz="1400" b="1" dirty="0">
                <a:latin typeface="Times New Roman" pitchFamily="18" charset="0"/>
                <a:cs typeface="Arial" charset="0"/>
              </a:rPr>
              <a:t>-6-</a:t>
            </a:r>
            <a:r>
              <a:rPr lang="ko-KR" altLang="en-US" sz="1400" b="1" dirty="0">
                <a:latin typeface="Times New Roman" pitchFamily="18" charset="0"/>
                <a:cs typeface="Arial" charset="0"/>
              </a:rPr>
              <a:t>인산은 원형질막을 통과하지 못함</a:t>
            </a:r>
            <a:endParaRPr lang="en-US" altLang="ko-KR" sz="1400" b="1" dirty="0">
              <a:latin typeface="Times New Roman" pitchFamily="18" charset="0"/>
              <a:cs typeface="Arial" charset="0"/>
            </a:endParaRPr>
          </a:p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ko-KR" altLang="en-US" sz="1400" b="1" dirty="0" err="1">
                <a:latin typeface="Times New Roman" pitchFamily="18" charset="0"/>
                <a:cs typeface="Arial" charset="0"/>
              </a:rPr>
              <a:t>세포안으로</a:t>
            </a:r>
            <a:r>
              <a:rPr lang="ko-KR" altLang="en-US" sz="1400" b="1" dirty="0">
                <a:latin typeface="Times New Roman" pitchFamily="18" charset="0"/>
                <a:cs typeface="Arial" charset="0"/>
              </a:rPr>
              <a:t> </a:t>
            </a:r>
            <a:r>
              <a:rPr lang="ko-KR" altLang="en-US" sz="1400" b="1" dirty="0" err="1">
                <a:latin typeface="Times New Roman" pitchFamily="18" charset="0"/>
                <a:cs typeface="Arial" charset="0"/>
              </a:rPr>
              <a:t>글루코스의</a:t>
            </a:r>
            <a:r>
              <a:rPr lang="ko-KR" altLang="en-US" sz="1400" b="1" dirty="0">
                <a:latin typeface="Times New Roman" pitchFamily="18" charset="0"/>
                <a:cs typeface="Arial" charset="0"/>
              </a:rPr>
              <a:t> 촉진확산이 잘 일어남</a:t>
            </a:r>
            <a:endParaRPr lang="en-US" altLang="ko-KR" sz="1400" b="1" dirty="0">
              <a:latin typeface="Times New Roman" pitchFamily="18" charset="0"/>
              <a:cs typeface="Arial" charset="0"/>
            </a:endParaRPr>
          </a:p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ko-KR" altLang="en-US" sz="1400" b="1" dirty="0"/>
              <a:t>결국</a:t>
            </a:r>
            <a:r>
              <a:rPr lang="en-US" altLang="ko-KR" sz="1400" b="1" dirty="0"/>
              <a:t>, </a:t>
            </a:r>
            <a:r>
              <a:rPr lang="ko-KR" altLang="en-US" sz="1400" b="1" dirty="0">
                <a:solidFill>
                  <a:srgbClr val="0070C0"/>
                </a:solidFill>
              </a:rPr>
              <a:t>세포 내 에너지를 보존</a:t>
            </a:r>
            <a:endParaRPr lang="en-US" altLang="ko-KR" sz="1400" b="1" dirty="0">
              <a:solidFill>
                <a:srgbClr val="0070C0"/>
              </a:solidFill>
            </a:endParaRPr>
          </a:p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ko-KR" altLang="en-US" sz="1400" b="1" dirty="0"/>
              <a:t>효소와 반응 할 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효소가 기질을 인식하는 특이성을 부여해서 </a:t>
            </a:r>
            <a:r>
              <a:rPr lang="ko-KR" altLang="en-US" sz="1400" b="1" dirty="0">
                <a:solidFill>
                  <a:srgbClr val="0070C0"/>
                </a:solidFill>
              </a:rPr>
              <a:t>효소의 활성을 증가</a:t>
            </a:r>
            <a:endParaRPr lang="en-US" altLang="ko-KR" sz="1400" b="1" dirty="0">
              <a:solidFill>
                <a:srgbClr val="0070C0"/>
              </a:solidFill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209"/>
    </mc:Choice>
    <mc:Fallback xmlns="">
      <p:transition spd="slow" advTm="23020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079776" y="404667"/>
            <a:ext cx="3456384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1) 6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탄당인산화효소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Hexokinase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24000" y="836715"/>
            <a:ext cx="78843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 </a:t>
            </a:r>
          </a:p>
          <a:p>
            <a:r>
              <a:rPr lang="ko-KR" altLang="en-US" sz="1200" i="1" dirty="0"/>
              <a:t> </a:t>
            </a:r>
            <a:r>
              <a:rPr lang="en-US" altLang="ko-KR" sz="1200" dirty="0"/>
              <a:t>  </a:t>
            </a:r>
          </a:p>
          <a:p>
            <a:r>
              <a:rPr lang="en-US" altLang="ko-KR" sz="1200" dirty="0"/>
              <a:t> </a:t>
            </a:r>
          </a:p>
          <a:p>
            <a:r>
              <a:rPr lang="ko-KR" altLang="en-US" sz="1200" i="1" dirty="0"/>
              <a:t>  </a:t>
            </a:r>
            <a:endParaRPr lang="en-US" altLang="ko-KR" sz="1200" dirty="0"/>
          </a:p>
          <a:p>
            <a:r>
              <a:rPr lang="en-US" altLang="ko-KR" sz="1200" dirty="0"/>
              <a:t> </a:t>
            </a:r>
          </a:p>
          <a:p>
            <a:r>
              <a:rPr lang="ko-KR" altLang="en-US" sz="1200" i="1" dirty="0"/>
              <a:t> </a:t>
            </a:r>
            <a:endParaRPr lang="en-US" altLang="ko-KR" sz="1200" dirty="0"/>
          </a:p>
          <a:p>
            <a:r>
              <a:rPr lang="en-US" altLang="ko-KR" sz="1200" dirty="0"/>
              <a:t> 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135560" y="2695560"/>
            <a:ext cx="65527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</a:rPr>
              <a:t>- </a:t>
            </a:r>
            <a:r>
              <a:rPr lang="ko-KR" altLang="en-US" sz="1400" dirty="0">
                <a:solidFill>
                  <a:prstClr val="black"/>
                </a:solidFill>
              </a:rPr>
              <a:t>대부분의 동물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식물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미생물 세포에 있어서 </a:t>
            </a:r>
            <a:r>
              <a:rPr lang="ko-KR" altLang="en-US" sz="1400" b="1" dirty="0" err="1">
                <a:solidFill>
                  <a:prstClr val="black"/>
                </a:solidFill>
              </a:rPr>
              <a:t>글루코스</a:t>
            </a:r>
            <a:r>
              <a:rPr lang="en-US" altLang="ko-KR" sz="1400" b="1" dirty="0">
                <a:solidFill>
                  <a:prstClr val="black"/>
                </a:solidFill>
              </a:rPr>
              <a:t>(</a:t>
            </a:r>
            <a:r>
              <a:rPr lang="ko-KR" altLang="en-US" sz="1400" b="1" dirty="0" err="1">
                <a:solidFill>
                  <a:prstClr val="black"/>
                </a:solidFill>
              </a:rPr>
              <a:t>프럭토스</a:t>
            </a:r>
            <a:r>
              <a:rPr lang="en-US" altLang="ko-KR" sz="1400" b="1" dirty="0">
                <a:solidFill>
                  <a:prstClr val="black"/>
                </a:solidFill>
              </a:rPr>
              <a:t>, </a:t>
            </a:r>
            <a:r>
              <a:rPr lang="ko-KR" altLang="en-US" sz="1400" b="1" dirty="0" err="1">
                <a:solidFill>
                  <a:prstClr val="black"/>
                </a:solidFill>
              </a:rPr>
              <a:t>만노스</a:t>
            </a:r>
            <a:r>
              <a:rPr lang="ko-KR" altLang="en-US" sz="1400" b="1" dirty="0">
                <a:solidFill>
                  <a:prstClr val="black"/>
                </a:solidFill>
              </a:rPr>
              <a:t> 등도</a:t>
            </a:r>
            <a:r>
              <a:rPr lang="en-US" altLang="ko-KR" sz="1400" b="1" dirty="0">
                <a:solidFill>
                  <a:prstClr val="black"/>
                </a:solidFill>
              </a:rPr>
              <a:t>)</a:t>
            </a:r>
            <a:r>
              <a:rPr lang="ko-KR" altLang="en-US" sz="1400" b="1" dirty="0">
                <a:solidFill>
                  <a:prstClr val="black"/>
                </a:solidFill>
              </a:rPr>
              <a:t>를 인산화시키는 효소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</a:rPr>
              <a:t>- ATP</a:t>
            </a:r>
            <a:r>
              <a:rPr lang="ko-KR" altLang="en-US" sz="1400" dirty="0">
                <a:solidFill>
                  <a:prstClr val="black"/>
                </a:solidFill>
              </a:rPr>
              <a:t>의 인산기를 다양한 종류의 </a:t>
            </a:r>
            <a:r>
              <a:rPr lang="en-US" altLang="ko-KR" sz="1400" dirty="0">
                <a:solidFill>
                  <a:prstClr val="black"/>
                </a:solidFill>
              </a:rPr>
              <a:t>6</a:t>
            </a:r>
            <a:r>
              <a:rPr lang="ko-KR" altLang="en-US" sz="1400" dirty="0" err="1">
                <a:solidFill>
                  <a:prstClr val="black"/>
                </a:solidFill>
              </a:rPr>
              <a:t>탄당에</a:t>
            </a:r>
            <a:r>
              <a:rPr lang="ko-KR" altLang="en-US" sz="1400" dirty="0">
                <a:solidFill>
                  <a:prstClr val="black"/>
                </a:solidFill>
              </a:rPr>
              <a:t>  전달한다</a:t>
            </a:r>
            <a:r>
              <a:rPr lang="en-US" altLang="ko-KR" sz="1400" dirty="0">
                <a:solidFill>
                  <a:prstClr val="black"/>
                </a:solidFill>
              </a:rPr>
              <a:t>(Mg2</a:t>
            </a:r>
            <a:r>
              <a:rPr lang="en-US" altLang="ko-KR" sz="1400" baseline="30000" dirty="0">
                <a:solidFill>
                  <a:prstClr val="black"/>
                </a:solidFill>
              </a:rPr>
              <a:t>+</a:t>
            </a:r>
            <a:r>
              <a:rPr lang="ko-KR" altLang="en-US" sz="1400" dirty="0">
                <a:solidFill>
                  <a:prstClr val="black"/>
                </a:solidFill>
              </a:rPr>
              <a:t>필요</a:t>
            </a:r>
            <a:r>
              <a:rPr lang="en-US" altLang="ko-KR" sz="1400" dirty="0">
                <a:solidFill>
                  <a:prstClr val="black"/>
                </a:solidFill>
              </a:rPr>
              <a:t>).</a:t>
            </a:r>
          </a:p>
          <a:p>
            <a:pPr lvl="0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</a:rPr>
              <a:t>- </a:t>
            </a:r>
            <a:r>
              <a:rPr lang="ko-KR" altLang="en-US" sz="1400" dirty="0" err="1">
                <a:solidFill>
                  <a:prstClr val="black"/>
                </a:solidFill>
              </a:rPr>
              <a:t>글루코스와</a:t>
            </a:r>
            <a:r>
              <a:rPr lang="ko-KR" altLang="en-US" sz="1400" dirty="0">
                <a:solidFill>
                  <a:prstClr val="black"/>
                </a:solidFill>
              </a:rPr>
              <a:t> 결합</a:t>
            </a:r>
            <a:r>
              <a:rPr lang="en-US" altLang="ko-KR" sz="1400" dirty="0">
                <a:solidFill>
                  <a:prstClr val="black"/>
                </a:solidFill>
              </a:rPr>
              <a:t>(</a:t>
            </a:r>
            <a:r>
              <a:rPr lang="ko-KR" altLang="en-US" sz="1400" dirty="0">
                <a:solidFill>
                  <a:prstClr val="black"/>
                </a:solidFill>
              </a:rPr>
              <a:t>유도적합</a:t>
            </a:r>
            <a:r>
              <a:rPr lang="en-US" altLang="ko-KR" sz="1400" dirty="0">
                <a:solidFill>
                  <a:prstClr val="black"/>
                </a:solidFill>
              </a:rPr>
              <a:t>)</a:t>
            </a:r>
            <a:r>
              <a:rPr lang="ko-KR" altLang="en-US" sz="1400" dirty="0">
                <a:solidFill>
                  <a:prstClr val="black"/>
                </a:solidFill>
              </a:rPr>
              <a:t>하면서 구조적인 변화가 야기된다 </a:t>
            </a:r>
            <a:endParaRPr lang="en-US" altLang="ko-KR" sz="1400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prstClr val="black"/>
                </a:solidFill>
              </a:rPr>
              <a:t> </a:t>
            </a:r>
            <a:r>
              <a:rPr lang="ko-KR" altLang="en-US" sz="1400" b="1" dirty="0" err="1">
                <a:solidFill>
                  <a:srgbClr val="0070C0"/>
                </a:solidFill>
              </a:rPr>
              <a:t>알로스테릭</a:t>
            </a:r>
            <a:r>
              <a:rPr lang="ko-KR" altLang="en-US" sz="1400" b="1" dirty="0">
                <a:solidFill>
                  <a:srgbClr val="0070C0"/>
                </a:solidFill>
              </a:rPr>
              <a:t> 억제작용</a:t>
            </a:r>
            <a:r>
              <a:rPr lang="en-US" altLang="ko-KR" sz="1400" b="1" dirty="0">
                <a:solidFill>
                  <a:srgbClr val="0070C0"/>
                </a:solidFill>
              </a:rPr>
              <a:t>: </a:t>
            </a:r>
            <a:r>
              <a:rPr lang="ko-KR" altLang="en-US" sz="1400" dirty="0">
                <a:solidFill>
                  <a:prstClr val="black"/>
                </a:solidFill>
              </a:rPr>
              <a:t>생성물인 </a:t>
            </a:r>
            <a:r>
              <a:rPr lang="en-US" altLang="ko-KR" sz="1400" dirty="0">
                <a:solidFill>
                  <a:prstClr val="black"/>
                </a:solidFill>
              </a:rPr>
              <a:t>G-6-P</a:t>
            </a:r>
            <a:r>
              <a:rPr lang="ko-KR" altLang="en-US" sz="1400" dirty="0">
                <a:solidFill>
                  <a:prstClr val="black"/>
                </a:solidFill>
              </a:rPr>
              <a:t>에 의해 활성 조절</a:t>
            </a:r>
            <a:endParaRPr lang="en-US" altLang="ko-KR" sz="1400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해당과정 경로에서 </a:t>
            </a:r>
            <a:r>
              <a:rPr lang="en-US" altLang="ko-KR" sz="1400" dirty="0">
                <a:solidFill>
                  <a:srgbClr val="FF0000"/>
                </a:solidFill>
              </a:rPr>
              <a:t>3</a:t>
            </a:r>
            <a:r>
              <a:rPr lang="ko-KR" altLang="en-US" sz="1400" dirty="0">
                <a:solidFill>
                  <a:srgbClr val="FF0000"/>
                </a:solidFill>
              </a:rPr>
              <a:t>군데 주요 조절부위 중의 하나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prstClr val="black"/>
                </a:solidFill>
              </a:rPr>
              <a:t> 포유동물의 경우는 여러 가지 </a:t>
            </a:r>
            <a:r>
              <a:rPr lang="en-US" altLang="ko-KR" sz="1400" b="1" dirty="0">
                <a:solidFill>
                  <a:prstClr val="black"/>
                </a:solidFill>
              </a:rPr>
              <a:t>isoform(</a:t>
            </a:r>
            <a:r>
              <a:rPr lang="en-US" altLang="ko-KR" sz="14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Ⅰ~Ⅳ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</a:rPr>
              <a:t>의 </a:t>
            </a:r>
            <a:r>
              <a:rPr lang="en-US" altLang="ko-KR" sz="1400" dirty="0" err="1">
                <a:solidFill>
                  <a:prstClr val="black"/>
                </a:solidFill>
              </a:rPr>
              <a:t>hexokinase</a:t>
            </a:r>
            <a:r>
              <a:rPr lang="en-US" altLang="ko-KR" sz="1400" dirty="0">
                <a:solidFill>
                  <a:prstClr val="black"/>
                </a:solidFill>
              </a:rPr>
              <a:t> </a:t>
            </a:r>
            <a:r>
              <a:rPr lang="ko-KR" altLang="en-US" sz="1400" dirty="0">
                <a:solidFill>
                  <a:prstClr val="black"/>
                </a:solidFill>
              </a:rPr>
              <a:t>존재</a:t>
            </a:r>
            <a:endParaRPr lang="en-US" altLang="ko-KR" sz="1400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</a:rPr>
              <a:t>  </a:t>
            </a:r>
            <a:r>
              <a:rPr lang="ko-KR" altLang="en-US" sz="1400" dirty="0">
                <a:solidFill>
                  <a:prstClr val="black"/>
                </a:solidFill>
              </a:rPr>
              <a:t> </a:t>
            </a:r>
            <a:r>
              <a:rPr lang="ko-KR" altLang="en-US" sz="1400" u="sng" dirty="0">
                <a:solidFill>
                  <a:prstClr val="black"/>
                </a:solidFill>
              </a:rPr>
              <a:t>간과 췌장</a:t>
            </a:r>
            <a:r>
              <a:rPr lang="en-US" altLang="ko-KR" sz="1400" u="sng" dirty="0">
                <a:solidFill>
                  <a:prstClr val="black"/>
                </a:solidFill>
              </a:rPr>
              <a:t>(beta cell)</a:t>
            </a:r>
            <a:r>
              <a:rPr lang="ko-KR" altLang="en-US" sz="1400" dirty="0">
                <a:solidFill>
                  <a:prstClr val="black"/>
                </a:solidFill>
              </a:rPr>
              <a:t>에 주로 존재하는 것은 </a:t>
            </a:r>
            <a:r>
              <a:rPr lang="en-US" altLang="ko-KR" sz="1400" b="1" dirty="0" err="1">
                <a:solidFill>
                  <a:srgbClr val="0070C0"/>
                </a:solidFill>
              </a:rPr>
              <a:t>glucokinase</a:t>
            </a:r>
            <a:r>
              <a:rPr lang="en-US" altLang="ko-KR" sz="1400" b="1" dirty="0">
                <a:solidFill>
                  <a:srgbClr val="0070C0"/>
                </a:solidFill>
              </a:rPr>
              <a:t>(Ⅳ</a:t>
            </a:r>
            <a:r>
              <a:rPr lang="ko-KR" altLang="en-US" sz="1400" b="1" dirty="0">
                <a:solidFill>
                  <a:srgbClr val="0070C0"/>
                </a:solidFill>
              </a:rPr>
              <a:t>형 동위효소</a:t>
            </a:r>
            <a:r>
              <a:rPr lang="en-US" altLang="ko-KR" sz="1400" b="1" dirty="0">
                <a:solidFill>
                  <a:srgbClr val="0070C0"/>
                </a:solidFill>
              </a:rPr>
              <a:t>)</a:t>
            </a:r>
            <a:r>
              <a:rPr lang="ko-KR" altLang="en-US" sz="1400" dirty="0">
                <a:solidFill>
                  <a:prstClr val="black"/>
                </a:solidFill>
              </a:rPr>
              <a:t>이다</a:t>
            </a:r>
            <a:r>
              <a:rPr lang="en-US" altLang="ko-KR" sz="1400" dirty="0">
                <a:solidFill>
                  <a:prstClr val="black"/>
                </a:solidFill>
              </a:rPr>
              <a:t>. </a:t>
            </a:r>
          </a:p>
        </p:txBody>
      </p:sp>
      <p:pic>
        <p:nvPicPr>
          <p:cNvPr id="6" name="Picture 2" descr="http://bass.bio.uci.edu/~hudel/bs99a/lecture20/hexokinase_glu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8733618" y="474273"/>
            <a:ext cx="2408659" cy="1460112"/>
          </a:xfrm>
          <a:prstGeom prst="rect">
            <a:avLst/>
          </a:prstGeom>
          <a:noFill/>
        </p:spPr>
      </p:pic>
      <p:pic>
        <p:nvPicPr>
          <p:cNvPr id="7" name="Picture 7" descr="18f07AC.jpg"/>
          <p:cNvPicPr>
            <a:picLocks noChangeArrowheads="1"/>
          </p:cNvPicPr>
          <p:nvPr/>
        </p:nvPicPr>
        <p:blipFill>
          <a:blip r:embed="rId4" cstate="print"/>
          <a:srcRect r="50676" b="26510"/>
          <a:stretch>
            <a:fillRect/>
          </a:stretch>
        </p:blipFill>
        <p:spPr bwMode="auto">
          <a:xfrm>
            <a:off x="7608168" y="108868"/>
            <a:ext cx="1537518" cy="231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18f06AB.jpg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92344" y="2780931"/>
            <a:ext cx="1319808" cy="367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6" cstate="print"/>
          <a:srcRect b="18750"/>
          <a:stretch>
            <a:fillRect/>
          </a:stretch>
        </p:blipFill>
        <p:spPr bwMode="auto">
          <a:xfrm>
            <a:off x="2158216" y="1052736"/>
            <a:ext cx="3433731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포인트가 5개인 별 9"/>
          <p:cNvSpPr/>
          <p:nvPr/>
        </p:nvSpPr>
        <p:spPr>
          <a:xfrm>
            <a:off x="1703512" y="4005064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337"/>
    </mc:Choice>
    <mc:Fallback xmlns="">
      <p:transition spd="slow" advTm="1453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f18-05.jpg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1584" y="1268760"/>
            <a:ext cx="765996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223792" y="404667"/>
            <a:ext cx="3816424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b="1" dirty="0">
                <a:latin typeface="Times New Roman" pitchFamily="18" charset="0"/>
                <a:cs typeface="Arial" charset="0"/>
              </a:rPr>
              <a:t>대사 경로에서 </a:t>
            </a:r>
            <a:r>
              <a:rPr lang="ko-KR" altLang="en-US" b="1" dirty="0" err="1">
                <a:latin typeface="Times New Roman" pitchFamily="18" charset="0"/>
                <a:cs typeface="Arial" charset="0"/>
              </a:rPr>
              <a:t>글루코오스</a:t>
            </a:r>
            <a:r>
              <a:rPr lang="en-US" altLang="ko-KR" b="1" dirty="0">
                <a:latin typeface="Times New Roman" pitchFamily="18" charset="0"/>
                <a:cs typeface="Arial" charset="0"/>
              </a:rPr>
              <a:t>-6-</a:t>
            </a:r>
            <a:r>
              <a:rPr lang="ko-KR" altLang="en-US" b="1" dirty="0">
                <a:latin typeface="Times New Roman" pitchFamily="18" charset="0"/>
                <a:cs typeface="Arial" charset="0"/>
              </a:rPr>
              <a:t>인산</a:t>
            </a:r>
            <a:endParaRPr lang="en-US" altLang="ko-KR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431704" y="1772816"/>
            <a:ext cx="1584176" cy="36004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791744" y="2132859"/>
            <a:ext cx="559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015880" y="1527178"/>
            <a:ext cx="559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868034" y="1527178"/>
            <a:ext cx="779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③ 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포인트가 5개인 별 7"/>
          <p:cNvSpPr/>
          <p:nvPr/>
        </p:nvSpPr>
        <p:spPr>
          <a:xfrm>
            <a:off x="7680176" y="3501008"/>
            <a:ext cx="1800200" cy="1728192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953"/>
    </mc:Choice>
    <mc:Fallback xmlns="">
      <p:transition spd="slow" advTm="69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6-</a:t>
            </a:r>
            <a:r>
              <a:rPr lang="ko-KR" altLang="en-US" sz="2400" b="1" dirty="0">
                <a:latin typeface="+mn-ea"/>
              </a:rPr>
              <a:t>인산 </a:t>
            </a:r>
            <a:r>
              <a:rPr lang="ko-KR" altLang="en-US" sz="2400" b="1" dirty="0" err="1">
                <a:latin typeface="+mn-ea"/>
              </a:rPr>
              <a:t>글루코스의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6-</a:t>
            </a:r>
            <a:r>
              <a:rPr lang="ko-KR" altLang="en-US" sz="2400" b="1" dirty="0">
                <a:latin typeface="+mn-ea"/>
              </a:rPr>
              <a:t>인산 </a:t>
            </a:r>
            <a:r>
              <a:rPr lang="ko-KR" altLang="en-US" sz="2400" b="1" dirty="0" err="1">
                <a:latin typeface="+mn-ea"/>
              </a:rPr>
              <a:t>프럭토스로</a:t>
            </a:r>
            <a:r>
              <a:rPr lang="ko-KR" altLang="en-US" sz="2400" b="1" dirty="0">
                <a:latin typeface="+mn-ea"/>
              </a:rPr>
              <a:t> 변환</a:t>
            </a:r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        (</a:t>
            </a:r>
            <a:r>
              <a:rPr lang="ko-KR" altLang="en-US" sz="2400" b="1" dirty="0" err="1">
                <a:latin typeface="+mn-ea"/>
              </a:rPr>
              <a:t>이성질화</a:t>
            </a:r>
            <a:r>
              <a:rPr lang="ko-KR" altLang="en-US" sz="2400" b="1" dirty="0">
                <a:latin typeface="+mn-ea"/>
              </a:rPr>
              <a:t> 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 b="18750"/>
          <a:stretch>
            <a:fillRect/>
          </a:stretch>
        </p:blipFill>
        <p:spPr bwMode="auto">
          <a:xfrm>
            <a:off x="3709216" y="2060848"/>
            <a:ext cx="4835059" cy="2090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079776" y="1124747"/>
            <a:ext cx="3816424" cy="78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latin typeface="Times New Roman" pitchFamily="18" charset="0"/>
                <a:cs typeface="Arial" charset="0"/>
              </a:rPr>
              <a:t> 당의 </a:t>
            </a:r>
            <a:r>
              <a:rPr lang="ko-KR" altLang="en-US" sz="1600" b="1" dirty="0" err="1">
                <a:latin typeface="Times New Roman" pitchFamily="18" charset="0"/>
                <a:cs typeface="Arial" charset="0"/>
              </a:rPr>
              <a:t>이성화반응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: 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구조변화</a:t>
            </a:r>
            <a:endParaRPr lang="en-US" altLang="ko-KR" sz="1600" b="1" dirty="0">
              <a:latin typeface="Times New Roman" pitchFamily="18" charset="0"/>
              <a:cs typeface="Arial" charset="0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600" b="1" dirty="0">
                <a:latin typeface="Times New Roman" pitchFamily="18" charset="0"/>
                <a:cs typeface="Arial" charset="0"/>
              </a:rPr>
              <a:t>    </a:t>
            </a:r>
            <a:r>
              <a:rPr lang="ko-KR" altLang="en-US" sz="1600" b="1" dirty="0" err="1">
                <a:latin typeface="Times New Roman" pitchFamily="18" charset="0"/>
                <a:cs typeface="Arial" charset="0"/>
              </a:rPr>
              <a:t>카보닐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 산소가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C-1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에서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C-2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로 옮겨짐</a:t>
            </a:r>
            <a:endParaRPr lang="en-US" altLang="ko-KR" sz="1600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4799856" y="2636690"/>
            <a:ext cx="864096" cy="864321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671550" y="2636915"/>
            <a:ext cx="864096" cy="864321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59696" y="4869163"/>
            <a:ext cx="6264696" cy="78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ko-KR" altLang="en-US" sz="1600" b="1" dirty="0">
                <a:latin typeface="Times New Roman" pitchFamily="18" charset="0"/>
                <a:cs typeface="Arial" charset="0"/>
              </a:rPr>
              <a:t>다음단계의 인산화 반응에 영향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(3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단계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 latinLnBrk="0">
              <a:lnSpc>
                <a:spcPct val="150000"/>
              </a:lnSpc>
              <a:buAutoNum type="arabicParenR"/>
            </a:pPr>
            <a:r>
              <a:rPr lang="en-US" altLang="ko-KR" sz="1600" b="1" dirty="0">
                <a:latin typeface="Times New Roman" pitchFamily="18" charset="0"/>
                <a:cs typeface="Arial" charset="0"/>
              </a:rPr>
              <a:t>C3 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탄소가 활성화되어 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C-C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결합이 쉽게 절단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(4</a:t>
            </a:r>
            <a:r>
              <a:rPr lang="ko-KR" altLang="en-US" sz="1600" b="1" dirty="0">
                <a:latin typeface="Times New Roman" pitchFamily="18" charset="0"/>
                <a:cs typeface="Arial" charset="0"/>
              </a:rPr>
              <a:t>단계</a:t>
            </a:r>
            <a:r>
              <a:rPr lang="en-US" altLang="ko-KR" sz="1600" b="1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367811" y="4365107"/>
            <a:ext cx="4442239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 당의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이성화반응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이유</a:t>
            </a:r>
            <a:endParaRPr lang="en-US" altLang="ko-KR" b="1" dirty="0">
              <a:solidFill>
                <a:srgbClr val="FF0000"/>
              </a:solidFill>
              <a:latin typeface="Times New Roman" pitchFamily="18" charset="0"/>
              <a:cs typeface="Arial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839"/>
    </mc:Choice>
    <mc:Fallback xmlns="">
      <p:transition spd="slow" advTm="106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/>
          <p:cNvSpPr txBox="1">
            <a:spLocks/>
          </p:cNvSpPr>
          <p:nvPr/>
        </p:nvSpPr>
        <p:spPr>
          <a:xfrm>
            <a:off x="8256240" y="5304369"/>
            <a:ext cx="18002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14-4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9FE332-1587-4768-8D00-C43F512DD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83" y="620689"/>
            <a:ext cx="8395834" cy="43435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75"/>
    </mc:Choice>
    <mc:Fallback xmlns="">
      <p:transition spd="slow" advTm="1807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576" y="2924944"/>
            <a:ext cx="50405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F-6-P</a:t>
            </a:r>
            <a:r>
              <a:rPr lang="ko-KR" altLang="en-US" sz="1400" dirty="0"/>
              <a:t>로의 </a:t>
            </a:r>
            <a:r>
              <a:rPr lang="ko-KR" altLang="en-US" sz="1400" dirty="0" err="1"/>
              <a:t>이성질화는</a:t>
            </a:r>
            <a:r>
              <a:rPr lang="ko-KR" altLang="en-US" sz="1400" dirty="0"/>
              <a:t> 다음 단계에서 </a:t>
            </a:r>
            <a:r>
              <a:rPr lang="en-US" altLang="ko-KR" sz="1400" b="1" dirty="0">
                <a:solidFill>
                  <a:srgbClr val="0070C0"/>
                </a:solidFill>
              </a:rPr>
              <a:t>C-1</a:t>
            </a:r>
            <a:r>
              <a:rPr lang="ko-KR" altLang="en-US" sz="1400" b="1" dirty="0">
                <a:solidFill>
                  <a:srgbClr val="0070C0"/>
                </a:solidFill>
              </a:rPr>
              <a:t>에서의 인산화</a:t>
            </a:r>
            <a:r>
              <a:rPr lang="ko-KR" altLang="en-US" sz="1400" dirty="0"/>
              <a:t>와 </a:t>
            </a:r>
            <a:r>
              <a:rPr lang="en-US" altLang="ko-KR" sz="1400" b="1" dirty="0">
                <a:solidFill>
                  <a:srgbClr val="0070C0"/>
                </a:solidFill>
              </a:rPr>
              <a:t>C-3 </a:t>
            </a:r>
            <a:r>
              <a:rPr lang="ko-KR" altLang="en-US" sz="1400" b="1" dirty="0">
                <a:solidFill>
                  <a:srgbClr val="0070C0"/>
                </a:solidFill>
              </a:rPr>
              <a:t>탄소의 절단</a:t>
            </a:r>
            <a:r>
              <a:rPr lang="ko-KR" altLang="en-US" sz="1400" dirty="0"/>
              <a:t>에 중요하다</a:t>
            </a:r>
            <a:r>
              <a:rPr lang="en-US" altLang="ko-KR" sz="1400" dirty="0"/>
              <a:t>.  </a:t>
            </a:r>
          </a:p>
        </p:txBody>
      </p:sp>
      <p:pic>
        <p:nvPicPr>
          <p:cNvPr id="3" name="Picture 7" descr="18un01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44272" y="260651"/>
            <a:ext cx="1967136" cy="2095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1631504" y="323364"/>
            <a:ext cx="705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포스포헥소스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아이소머레이스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Phosphohexose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isomerase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279576" y="1700808"/>
            <a:ext cx="6840760" cy="804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ko-KR" sz="1400" b="1" dirty="0">
                <a:latin typeface="+mn-ea"/>
              </a:rPr>
              <a:t>- </a:t>
            </a:r>
            <a:r>
              <a:rPr lang="en-US" altLang="ko-KR" sz="1400" b="1" dirty="0" err="1">
                <a:latin typeface="+mn-ea"/>
              </a:rPr>
              <a:t>Isomerase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반응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 err="1">
                <a:latin typeface="+mn-ea"/>
              </a:rPr>
              <a:t>이성화효소</a:t>
            </a:r>
            <a:r>
              <a:rPr lang="en-US" altLang="ko-KR" sz="1400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ko-KR" altLang="en-US" sz="1400" dirty="0">
                <a:latin typeface="+mn-ea"/>
              </a:rPr>
              <a:t>기질의 원자 배열을 바꾸거나 이중결합의 위치를 이동시키는 작용을 갖는 효소</a:t>
            </a:r>
          </a:p>
        </p:txBody>
      </p:sp>
      <p:pic>
        <p:nvPicPr>
          <p:cNvPr id="6" name="Picture 2" descr="Immunocytochemistry/ Immunofluorescence - Glucose 6 phosphate isomerase antibody (ab68643)"/>
          <p:cNvPicPr>
            <a:picLocks noChangeAspect="1" noChangeArrowheads="1"/>
          </p:cNvPicPr>
          <p:nvPr/>
        </p:nvPicPr>
        <p:blipFill>
          <a:blip r:embed="rId4" cstate="print"/>
          <a:srcRect b="7430"/>
          <a:stretch>
            <a:fillRect/>
          </a:stretch>
        </p:blipFill>
        <p:spPr bwMode="auto">
          <a:xfrm>
            <a:off x="7824195" y="2852936"/>
            <a:ext cx="2358571" cy="1872208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2279576" y="827420"/>
            <a:ext cx="669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포스포글루코스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이성화효소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Phosphoglucose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isomerase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09"/>
    </mc:Choice>
    <mc:Fallback xmlns="">
      <p:transition spd="slow" advTm="2710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31707" y="260648"/>
            <a:ext cx="5346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  <a:latin typeface="+mn-ea"/>
              </a:rPr>
              <a:t>Isomerase</a:t>
            </a:r>
            <a:r>
              <a:rPr lang="en-US" altLang="ko-KR" sz="28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rgbClr val="0070C0"/>
                </a:solidFill>
                <a:latin typeface="+mn-ea"/>
              </a:rPr>
              <a:t>와</a:t>
            </a:r>
            <a:r>
              <a:rPr lang="en-US" altLang="ko-KR" sz="2800" b="1" dirty="0">
                <a:latin typeface="+mn-ea"/>
              </a:rPr>
              <a:t> </a:t>
            </a:r>
            <a:r>
              <a:rPr lang="en-US" altLang="ko-KR" sz="2800" b="1" dirty="0" err="1">
                <a:solidFill>
                  <a:srgbClr val="FF0000"/>
                </a:solidFill>
                <a:latin typeface="+mn-ea"/>
              </a:rPr>
              <a:t>Mutase</a:t>
            </a:r>
            <a:r>
              <a:rPr lang="ko-KR" altLang="en-US" sz="2800" b="1" dirty="0">
                <a:solidFill>
                  <a:srgbClr val="0070C0"/>
                </a:solidFill>
                <a:latin typeface="+mn-ea"/>
              </a:rPr>
              <a:t>의 차이점</a:t>
            </a:r>
            <a:endParaRPr lang="en-US" altLang="ko-KR" sz="2800" b="1" dirty="0">
              <a:latin typeface="+mn-ea"/>
            </a:endParaRPr>
          </a:p>
        </p:txBody>
      </p:sp>
      <p:grpSp>
        <p:nvGrpSpPr>
          <p:cNvPr id="5" name="그룹 13"/>
          <p:cNvGrpSpPr/>
          <p:nvPr/>
        </p:nvGrpSpPr>
        <p:grpSpPr>
          <a:xfrm>
            <a:off x="2063555" y="980731"/>
            <a:ext cx="7443863" cy="4859723"/>
            <a:chOff x="539552" y="980728"/>
            <a:chExt cx="7443863" cy="4859723"/>
          </a:xfrm>
        </p:grpSpPr>
        <p:sp>
          <p:nvSpPr>
            <p:cNvPr id="3" name="직사각형 2"/>
            <p:cNvSpPr/>
            <p:nvPr/>
          </p:nvSpPr>
          <p:spPr>
            <a:xfrm>
              <a:off x="539552" y="980728"/>
              <a:ext cx="185820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 b="1" dirty="0" err="1">
                  <a:solidFill>
                    <a:srgbClr val="0070C0"/>
                  </a:solidFill>
                </a:rPr>
                <a:t>Isomerase</a:t>
              </a:r>
              <a:r>
                <a:rPr lang="en-US" altLang="ko-KR" sz="2400" b="1" dirty="0">
                  <a:solidFill>
                    <a:srgbClr val="0070C0"/>
                  </a:solidFill>
                </a:rPr>
                <a:t> :</a:t>
              </a:r>
            </a:p>
          </p:txBody>
        </p:sp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2351378" y="1078614"/>
              <a:ext cx="26581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600" b="1" dirty="0">
                  <a:solidFill>
                    <a:srgbClr val="000000"/>
                  </a:solidFill>
                  <a:latin typeface="+mj-ea"/>
                  <a:ea typeface="+mj-ea"/>
                </a:rPr>
                <a:t>분자의</a:t>
              </a:r>
              <a:r>
                <a:rPr kumimoji="1" lang="en-US" altLang="ko-KR" sz="1600" b="1" dirty="0">
                  <a:solidFill>
                    <a:srgbClr val="000000"/>
                  </a:solidFill>
                  <a:latin typeface="+mj-ea"/>
                  <a:ea typeface="+mj-ea"/>
                </a:rPr>
                <a:t> </a:t>
              </a:r>
              <a:r>
                <a:rPr kumimoji="1" lang="ko-KR" altLang="en-US" sz="1600" b="1" dirty="0">
                  <a:solidFill>
                    <a:srgbClr val="000000"/>
                  </a:solidFill>
                  <a:latin typeface="+mj-ea"/>
                  <a:ea typeface="+mj-ea"/>
                </a:rPr>
                <a:t>구조가 완전히 다름</a:t>
              </a:r>
              <a:endParaRPr kumimoji="1" lang="ko-KR" altLang="en-US" sz="1600" b="1" dirty="0">
                <a:latin typeface="+mj-ea"/>
                <a:ea typeface="+mj-ea"/>
              </a:endParaRPr>
            </a:p>
          </p:txBody>
        </p:sp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 b="18750"/>
            <a:stretch>
              <a:fillRect/>
            </a:stretch>
          </p:blipFill>
          <p:spPr bwMode="auto">
            <a:xfrm>
              <a:off x="2555776" y="1556792"/>
              <a:ext cx="4691043" cy="2027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 b="17949"/>
            <a:stretch>
              <a:fillRect/>
            </a:stretch>
          </p:blipFill>
          <p:spPr bwMode="auto">
            <a:xfrm>
              <a:off x="2627784" y="4005064"/>
              <a:ext cx="5355631" cy="1835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" name="Picture 2" descr="http://upload.wikimedia.org/wikipedia/commons/a/ae/GLO1_Homo_sapiens_small_fast.gif">
            <a:hlinkClick r:id="rId6"/>
          </p:cNvPr>
          <p:cNvPicPr>
            <a:picLocks noChangeAspect="1" noChangeArrowheads="1" noCrop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24000" y="0"/>
            <a:ext cx="1163206" cy="1008112"/>
          </a:xfrm>
          <a:prstGeom prst="rect">
            <a:avLst/>
          </a:prstGeom>
          <a:noFill/>
        </p:spPr>
      </p:pic>
      <p:grpSp>
        <p:nvGrpSpPr>
          <p:cNvPr id="6" name="그룹 9"/>
          <p:cNvGrpSpPr>
            <a:grpSpLocks/>
          </p:cNvGrpSpPr>
          <p:nvPr/>
        </p:nvGrpSpPr>
        <p:grpSpPr bwMode="auto">
          <a:xfrm>
            <a:off x="2024063" y="6348413"/>
            <a:ext cx="8464550" cy="400050"/>
            <a:chOff x="500600" y="6348433"/>
            <a:chExt cx="8464055" cy="400053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715099" y="6532584"/>
              <a:ext cx="5249556" cy="63500"/>
            </a:xfrm>
            <a:prstGeom prst="rect">
              <a:avLst/>
            </a:prstGeom>
            <a:gradFill rotWithShape="1">
              <a:gsLst>
                <a:gs pos="0">
                  <a:srgbClr val="3366FF">
                    <a:gamma/>
                    <a:shade val="46275"/>
                    <a:invGamma/>
                  </a:srgbClr>
                </a:gs>
                <a:gs pos="100000">
                  <a:srgbClr val="3366FF">
                    <a:alpha val="83000"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charset="-127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500600" y="6483371"/>
              <a:ext cx="179377" cy="13017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charset="-127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716487" y="6348433"/>
              <a:ext cx="2962102" cy="400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000" b="1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휴먼매직체" pitchFamily="18" charset="-127"/>
                  <a:ea typeface="휴먼매직체" pitchFamily="18" charset="-127"/>
                </a:rPr>
                <a:t>Veterinary Biochemistry</a:t>
              </a:r>
              <a:endParaRPr lang="ko-KR" altLang="en-US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매직체" pitchFamily="18" charset="-127"/>
                <a:ea typeface="휴먼매직체" pitchFamily="18" charset="-127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87"/>
    </mc:Choice>
    <mc:Fallback xmlns="">
      <p:transition spd="slow" advTm="47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69470" y="1041113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 err="1">
                <a:solidFill>
                  <a:srgbClr val="0070C0"/>
                </a:solidFill>
              </a:rPr>
              <a:t>Mutase</a:t>
            </a:r>
            <a:r>
              <a:rPr lang="en-US" altLang="ko-KR" sz="2400" b="1" dirty="0">
                <a:solidFill>
                  <a:srgbClr val="0070C0"/>
                </a:solidFill>
              </a:rPr>
              <a:t> :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87688" y="1076556"/>
            <a:ext cx="6408712" cy="783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분자의</a:t>
            </a:r>
            <a:r>
              <a:rPr kumimoji="1"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kumimoji="1"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구조는</a:t>
            </a:r>
            <a:r>
              <a:rPr kumimoji="1"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kumimoji="1"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유지</a:t>
            </a:r>
            <a:r>
              <a:rPr kumimoji="1" lang="ko-KR" altLang="en-US" sz="1600" dirty="0">
                <a:solidFill>
                  <a:srgbClr val="000000"/>
                </a:solidFill>
                <a:latin typeface="+mj-ea"/>
                <a:ea typeface="+mj-ea"/>
              </a:rPr>
              <a:t>한 채 분자에 붙어있는 </a:t>
            </a:r>
            <a:r>
              <a:rPr kumimoji="1" lang="ko-KR" altLang="en-US" sz="1600" dirty="0" err="1">
                <a:solidFill>
                  <a:srgbClr val="000000"/>
                </a:solidFill>
                <a:latin typeface="+mj-ea"/>
                <a:ea typeface="+mj-ea"/>
              </a:rPr>
              <a:t>인산기</a:t>
            </a:r>
            <a:r>
              <a:rPr kumimoji="1" lang="ko-KR" altLang="en-US" sz="1600" dirty="0">
                <a:solidFill>
                  <a:srgbClr val="000000"/>
                </a:solidFill>
                <a:latin typeface="+mj-ea"/>
                <a:ea typeface="+mj-ea"/>
              </a:rPr>
              <a:t> 등을 분자 내에서 </a:t>
            </a:r>
            <a:r>
              <a:rPr kumimoji="1"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원래 있던 자리에서 다른 자리로 인산기만 이동시켜주는 효소</a:t>
            </a:r>
            <a:endParaRPr kumimoji="1" lang="ko-KR" altLang="en-US" sz="1600" b="1" dirty="0">
              <a:latin typeface="+mj-ea"/>
              <a:ea typeface="+mj-ea"/>
            </a:endParaRPr>
          </a:p>
        </p:txBody>
      </p:sp>
      <p:pic>
        <p:nvPicPr>
          <p:cNvPr id="5" name="Picture 2" descr="http://upload.wikimedia.org/wikipedia/commons/a/ae/GLO1_Homo_sapiens_small_fast.gif">
            <a:hlinkClick r:id="rId3"/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0"/>
            <a:ext cx="1163206" cy="1008112"/>
          </a:xfrm>
          <a:prstGeom prst="rect">
            <a:avLst/>
          </a:prstGeom>
          <a:noFill/>
        </p:spPr>
      </p:pic>
      <p:grpSp>
        <p:nvGrpSpPr>
          <p:cNvPr id="6" name="그룹 5"/>
          <p:cNvGrpSpPr>
            <a:grpSpLocks/>
          </p:cNvGrpSpPr>
          <p:nvPr/>
        </p:nvGrpSpPr>
        <p:grpSpPr bwMode="auto">
          <a:xfrm>
            <a:off x="2024063" y="6348413"/>
            <a:ext cx="8464550" cy="400050"/>
            <a:chOff x="500600" y="6348433"/>
            <a:chExt cx="8464055" cy="400053"/>
          </a:xfrm>
        </p:grpSpPr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715099" y="6532584"/>
              <a:ext cx="5249556" cy="63500"/>
            </a:xfrm>
            <a:prstGeom prst="rect">
              <a:avLst/>
            </a:prstGeom>
            <a:gradFill rotWithShape="1">
              <a:gsLst>
                <a:gs pos="0">
                  <a:srgbClr val="3366FF">
                    <a:gamma/>
                    <a:shade val="46275"/>
                    <a:invGamma/>
                  </a:srgbClr>
                </a:gs>
                <a:gs pos="100000">
                  <a:srgbClr val="3366FF">
                    <a:alpha val="83000"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charset="-127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500600" y="6483371"/>
              <a:ext cx="179377" cy="13017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ea typeface="굴림" charset="-127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716487" y="6348433"/>
              <a:ext cx="2962102" cy="400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000" b="1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휴먼매직체" pitchFamily="18" charset="-127"/>
                  <a:ea typeface="휴먼매직체" pitchFamily="18" charset="-127"/>
                </a:rPr>
                <a:t>Veterinary Biochemistry</a:t>
              </a:r>
              <a:endParaRPr lang="ko-KR" altLang="en-US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매직체" pitchFamily="18" charset="-127"/>
                <a:ea typeface="휴먼매직체" pitchFamily="18" charset="-127"/>
              </a:endParaRPr>
            </a:p>
          </p:txBody>
        </p:sp>
      </p:grpSp>
      <p:pic>
        <p:nvPicPr>
          <p:cNvPr id="12" name="Picture 5">
            <a:extLst>
              <a:ext uri="{FF2B5EF4-FFF2-40B4-BE49-F238E27FC236}">
                <a16:creationId xmlns:a16="http://schemas.microsoft.com/office/drawing/2014/main" id="{5A1F5264-97F8-4214-ACA4-33F90CDD8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/>
          <a:srcRect b="38697"/>
          <a:stretch/>
        </p:blipFill>
        <p:spPr bwMode="auto">
          <a:xfrm>
            <a:off x="3071664" y="2348881"/>
            <a:ext cx="5942434" cy="1733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985D63-A67C-4167-B2D2-C95925107DD4}"/>
              </a:ext>
            </a:extLst>
          </p:cNvPr>
          <p:cNvSpPr/>
          <p:nvPr/>
        </p:nvSpPr>
        <p:spPr>
          <a:xfrm>
            <a:off x="3245372" y="4125973"/>
            <a:ext cx="2023120" cy="421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600" b="1"/>
              <a:t>3-</a:t>
            </a:r>
            <a:r>
              <a:rPr lang="ko-KR" altLang="en-US" sz="1600" b="1" dirty="0" err="1"/>
              <a:t>인산글리세르산</a:t>
            </a:r>
            <a:endParaRPr lang="ko-KR" altLang="en-US" sz="16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8A606B-E4C1-4FE5-9F3C-FF33AE3DCD62}"/>
              </a:ext>
            </a:extLst>
          </p:cNvPr>
          <p:cNvSpPr/>
          <p:nvPr/>
        </p:nvSpPr>
        <p:spPr>
          <a:xfrm>
            <a:off x="6939462" y="4125973"/>
            <a:ext cx="2023120" cy="421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600" b="1" dirty="0"/>
              <a:t>2-</a:t>
            </a:r>
            <a:r>
              <a:rPr lang="ko-KR" altLang="en-US" sz="1600" b="1" dirty="0" err="1"/>
              <a:t>인산글리세르산</a:t>
            </a:r>
            <a:endParaRPr lang="ko-KR" altLang="en-US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50"/>
    </mc:Choice>
    <mc:Fallback xmlns="">
      <p:transition spd="slow" advTm="5075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47528" y="188643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6-</a:t>
            </a:r>
            <a:r>
              <a:rPr lang="ko-KR" altLang="en-US" sz="2400" b="1" dirty="0">
                <a:latin typeface="+mn-ea"/>
              </a:rPr>
              <a:t>인산 </a:t>
            </a:r>
            <a:r>
              <a:rPr lang="ko-KR" altLang="en-US" sz="2400" b="1" dirty="0" err="1">
                <a:latin typeface="+mn-ea"/>
              </a:rPr>
              <a:t>프럭토스의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1,6-</a:t>
            </a:r>
            <a:r>
              <a:rPr lang="ko-KR" altLang="en-US" sz="2400" b="1" dirty="0" err="1">
                <a:latin typeface="+mn-ea"/>
              </a:rPr>
              <a:t>양인산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b="1" dirty="0" err="1">
                <a:latin typeface="+mn-ea"/>
              </a:rPr>
              <a:t>프럭토스로의</a:t>
            </a:r>
            <a:r>
              <a:rPr lang="ko-KR" altLang="en-US" sz="2400" b="1" dirty="0">
                <a:latin typeface="+mn-ea"/>
              </a:rPr>
              <a:t> 인산화</a:t>
            </a:r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        (</a:t>
            </a:r>
            <a:r>
              <a:rPr lang="ko-KR" altLang="en-US" sz="2400" b="1" dirty="0" err="1">
                <a:latin typeface="+mn-ea"/>
              </a:rPr>
              <a:t>인산기</a:t>
            </a:r>
            <a:r>
              <a:rPr lang="ko-KR" altLang="en-US" sz="2400" b="1" dirty="0">
                <a:latin typeface="+mn-ea"/>
              </a:rPr>
              <a:t> 전달반응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287688" y="2636912"/>
            <a:ext cx="5965514" cy="2160240"/>
            <a:chOff x="395536" y="1700808"/>
            <a:chExt cx="5533466" cy="1944216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r="19468" b="56357"/>
            <a:stretch>
              <a:fillRect/>
            </a:stretch>
          </p:blipFill>
          <p:spPr bwMode="auto">
            <a:xfrm>
              <a:off x="395536" y="1844824"/>
              <a:ext cx="3528392" cy="16027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l="47662" t="39216" b="7843"/>
            <a:stretch>
              <a:fillRect/>
            </a:stretch>
          </p:blipFill>
          <p:spPr bwMode="auto">
            <a:xfrm>
              <a:off x="3635896" y="1700808"/>
              <a:ext cx="2293106" cy="1944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직사각형 7"/>
          <p:cNvSpPr/>
          <p:nvPr/>
        </p:nvSpPr>
        <p:spPr>
          <a:xfrm>
            <a:off x="3071664" y="1220559"/>
            <a:ext cx="6480720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600" b="1" dirty="0"/>
              <a:t> 6-</a:t>
            </a:r>
            <a:r>
              <a:rPr lang="ko-KR" altLang="en-US" sz="1600" b="1" dirty="0"/>
              <a:t>인산 </a:t>
            </a:r>
            <a:r>
              <a:rPr lang="ko-KR" altLang="en-US" sz="1600" b="1" dirty="0" err="1"/>
              <a:t>프럭토스가</a:t>
            </a:r>
            <a:r>
              <a:rPr lang="ko-KR" altLang="en-US" sz="1600" b="1" dirty="0"/>
              <a:t> </a:t>
            </a:r>
            <a:r>
              <a:rPr lang="ko-KR" altLang="en-US" sz="1600" b="1" dirty="0" err="1">
                <a:solidFill>
                  <a:srgbClr val="0070C0"/>
                </a:solidFill>
              </a:rPr>
              <a:t>포스포프럭토카이네이스</a:t>
            </a:r>
            <a:r>
              <a:rPr lang="ko-KR" altLang="en-US" sz="1600" b="1" dirty="0" err="1"/>
              <a:t>에</a:t>
            </a:r>
            <a:r>
              <a:rPr lang="ko-KR" altLang="en-US" sz="1600" b="1" dirty="0"/>
              <a:t> 의해 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1,6-</a:t>
            </a:r>
            <a:r>
              <a:rPr lang="ko-KR" altLang="en-US" sz="1600" b="1" dirty="0" err="1"/>
              <a:t>양인산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프럭토스가</a:t>
            </a:r>
            <a:r>
              <a:rPr lang="ko-KR" altLang="en-US" sz="1600" b="1" dirty="0"/>
              <a:t> 되는 과정</a:t>
            </a:r>
            <a:r>
              <a:rPr lang="en-US" altLang="ko-KR" sz="1600" b="1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- ATP</a:t>
            </a:r>
            <a:r>
              <a:rPr lang="ko-KR" altLang="en-US" sz="1600" b="1" dirty="0"/>
              <a:t>에 있던 인산기 하나를 </a:t>
            </a:r>
            <a:r>
              <a:rPr lang="ko-KR" altLang="en-US" sz="1600" b="1" dirty="0" err="1"/>
              <a:t>프럭토스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번 탄소에 전달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비가역적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22"/>
    </mc:Choice>
    <mc:Fallback xmlns="">
      <p:transition spd="slow" advTm="4952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63552" y="1484787"/>
            <a:ext cx="54543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rgbClr val="0070C0"/>
                </a:solidFill>
              </a:rPr>
              <a:t>해당과정의 조절에 중요한 </a:t>
            </a:r>
            <a:r>
              <a:rPr lang="en-US" altLang="ko-KR" sz="1400" b="1" dirty="0" err="1">
                <a:solidFill>
                  <a:srgbClr val="0070C0"/>
                </a:solidFill>
              </a:rPr>
              <a:t>allosteric</a:t>
            </a:r>
            <a:r>
              <a:rPr lang="en-US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</a:rPr>
              <a:t>효소</a:t>
            </a:r>
            <a:endParaRPr lang="en-US" altLang="ko-KR" sz="1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 (</a:t>
            </a:r>
            <a:r>
              <a:rPr lang="ko-KR" altLang="en-US" sz="1400" dirty="0"/>
              <a:t>해당과정의 속도를 조절하는 밸브역할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(</a:t>
            </a:r>
            <a:r>
              <a:rPr lang="en-US" altLang="ko-KR" sz="1400" b="1" dirty="0"/>
              <a:t>ATP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citrate</a:t>
            </a:r>
            <a:r>
              <a:rPr lang="ko-KR" altLang="en-US" sz="1400" b="1" dirty="0"/>
              <a:t>에 의해서는 활성이 저해되고</a:t>
            </a:r>
            <a:r>
              <a:rPr lang="en-US" altLang="ko-KR" sz="1400" b="1" dirty="0"/>
              <a:t>, AMP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fructose-2,6-bisphosphate</a:t>
            </a:r>
            <a:r>
              <a:rPr lang="ko-KR" altLang="en-US" sz="1400" b="1" dirty="0"/>
              <a:t>에 의해 활성화</a:t>
            </a:r>
            <a:r>
              <a:rPr lang="en-US" altLang="ko-KR" sz="1400" dirty="0"/>
              <a:t> )</a:t>
            </a:r>
          </a:p>
          <a:p>
            <a:pPr>
              <a:lnSpc>
                <a:spcPct val="150000"/>
              </a:lnSpc>
            </a:pPr>
            <a:r>
              <a:rPr lang="en-US" altLang="ko-KR" sz="1400" i="1" dirty="0"/>
              <a:t>-</a:t>
            </a:r>
            <a:r>
              <a:rPr lang="ko-KR" altLang="en-US" sz="1400" i="1" dirty="0"/>
              <a:t> </a:t>
            </a:r>
            <a:r>
              <a:rPr lang="en-US" altLang="ko-KR" sz="1400" i="1" dirty="0"/>
              <a:t>F-2,6-BP</a:t>
            </a:r>
            <a:r>
              <a:rPr lang="ko-KR" altLang="en-US" sz="1400" i="1" dirty="0"/>
              <a:t>는 </a:t>
            </a:r>
            <a:r>
              <a:rPr lang="en-US" altLang="ko-KR" sz="1400" i="1" dirty="0"/>
              <a:t>F-6-P</a:t>
            </a:r>
            <a:r>
              <a:rPr lang="ko-KR" altLang="en-US" sz="1400" i="1" dirty="0"/>
              <a:t>로부터 </a:t>
            </a:r>
            <a:r>
              <a:rPr lang="en-US" altLang="ko-KR" sz="1400" i="1" dirty="0"/>
              <a:t>phosphofructokinase-2</a:t>
            </a:r>
            <a:r>
              <a:rPr lang="ko-KR" altLang="en-US" sz="1400" i="1" dirty="0"/>
              <a:t>에 의해 합성되는 것으로 </a:t>
            </a:r>
            <a:r>
              <a:rPr lang="en-US" altLang="ko-KR" sz="1400" i="1" dirty="0"/>
              <a:t>F-6-P</a:t>
            </a:r>
            <a:r>
              <a:rPr lang="ko-KR" altLang="en-US" sz="1400" i="1" dirty="0"/>
              <a:t>가 많다 </a:t>
            </a:r>
            <a:r>
              <a:rPr lang="en-US" altLang="ko-KR" sz="1400" i="1" dirty="0"/>
              <a:t>(</a:t>
            </a:r>
            <a:r>
              <a:rPr lang="ko-KR" altLang="en-US" sz="1400" i="1" dirty="0"/>
              <a:t>즉</a:t>
            </a:r>
            <a:r>
              <a:rPr lang="en-US" altLang="ko-KR" sz="1400" i="1" dirty="0"/>
              <a:t>, </a:t>
            </a:r>
            <a:r>
              <a:rPr lang="ko-KR" altLang="en-US" sz="1400" i="1" dirty="0"/>
              <a:t>기질이 많다</a:t>
            </a:r>
            <a:r>
              <a:rPr lang="en-US" altLang="ko-KR" sz="1400" i="1" dirty="0"/>
              <a:t>)</a:t>
            </a:r>
            <a:r>
              <a:rPr lang="ko-KR" altLang="en-US" sz="1400" i="1" dirty="0"/>
              <a:t>는 신호로서 전달된다</a:t>
            </a:r>
            <a:r>
              <a:rPr lang="en-US" altLang="ko-KR" sz="1400" i="1" dirty="0"/>
              <a:t>. </a:t>
            </a:r>
            <a:r>
              <a:rPr lang="ko-KR" altLang="en-US" sz="1400" i="1" dirty="0"/>
              <a:t>이것은 </a:t>
            </a:r>
            <a:r>
              <a:rPr lang="en-US" altLang="ko-KR" sz="1400" i="1" dirty="0"/>
              <a:t>F-6-P </a:t>
            </a:r>
            <a:r>
              <a:rPr lang="ko-KR" altLang="en-US" sz="1400" i="1" dirty="0"/>
              <a:t>에 대한 친화력을 증가시키는 한편 </a:t>
            </a:r>
            <a:r>
              <a:rPr lang="en-US" altLang="ko-KR" sz="1400" i="1" dirty="0"/>
              <a:t>ATP</a:t>
            </a:r>
            <a:r>
              <a:rPr lang="ko-KR" altLang="en-US" sz="1400" i="1" dirty="0"/>
              <a:t>에 의한 저해효과를 제거한다</a:t>
            </a:r>
            <a:r>
              <a:rPr lang="en-US" altLang="ko-KR" sz="1400" i="1" dirty="0"/>
              <a:t>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이 효소는 </a:t>
            </a:r>
            <a:r>
              <a:rPr lang="en-US" altLang="ko-KR" sz="1400" dirty="0"/>
              <a:t>H</a:t>
            </a:r>
            <a:r>
              <a:rPr lang="en-US" altLang="ko-KR" sz="1400" baseline="30000" dirty="0"/>
              <a:t>+</a:t>
            </a:r>
            <a:r>
              <a:rPr lang="ko-KR" altLang="en-US" sz="1400" dirty="0"/>
              <a:t>에 의해서도 저해되어 </a:t>
            </a:r>
            <a:r>
              <a:rPr lang="en-US" altLang="ko-KR" sz="1400" dirty="0"/>
              <a:t>lactate </a:t>
            </a:r>
            <a:r>
              <a:rPr lang="ko-KR" altLang="en-US" sz="1400" dirty="0"/>
              <a:t>생성과 혈액의 </a:t>
            </a:r>
            <a:r>
              <a:rPr lang="en-US" altLang="ko-KR" sz="1400" dirty="0"/>
              <a:t>pH </a:t>
            </a:r>
            <a:r>
              <a:rPr lang="ko-KR" altLang="en-US" sz="1400" dirty="0"/>
              <a:t>저하를 억제한다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1606772" y="467383"/>
            <a:ext cx="6433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포스포프락토카이네이스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(=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포스포프락토오스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인산화효소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</a:rPr>
              <a:t>Phosphofructokinase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7" descr="18un03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8208" y="548680"/>
            <a:ext cx="247538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536160" y="2276875"/>
            <a:ext cx="3419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>
                <a:ea typeface="굴림" charset="-127"/>
              </a:rPr>
              <a:t>Phosphofructokinase</a:t>
            </a:r>
            <a:r>
              <a:rPr lang="en-US" altLang="ko-KR" sz="1200" dirty="0">
                <a:ea typeface="굴림" charset="-127"/>
              </a:rPr>
              <a:t> with ADP (in orange) and fructose-6-phosphate (in red).</a:t>
            </a:r>
          </a:p>
        </p:txBody>
      </p:sp>
      <p:pic>
        <p:nvPicPr>
          <p:cNvPr id="6" name="Picture 2" descr="1048885-1116574-1840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72264" y="3356992"/>
            <a:ext cx="1844478" cy="2760176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8472267" y="299695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tarui's</a:t>
            </a:r>
            <a:r>
              <a:rPr lang="en-US" altLang="ko-KR" dirty="0"/>
              <a:t> disease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240016" y="609329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근육과 적혈구 내에서 </a:t>
            </a:r>
            <a:r>
              <a:rPr lang="en-US" altLang="ko-KR" sz="1200" dirty="0" err="1"/>
              <a:t>Phosphofructokinase</a:t>
            </a:r>
            <a:r>
              <a:rPr lang="ko-KR" altLang="en-US" sz="1200" dirty="0"/>
              <a:t>라는 효소가 부족해서 나타나는 당원축적병</a:t>
            </a:r>
            <a:r>
              <a:rPr lang="en-US" altLang="ko-KR" sz="1200" dirty="0"/>
              <a:t>(Glycogen storage disease)</a:t>
            </a:r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에너지 전환 못함</a:t>
            </a:r>
            <a:r>
              <a:rPr lang="en-US" altLang="ko-KR" sz="1200" dirty="0"/>
              <a:t>, </a:t>
            </a:r>
            <a:r>
              <a:rPr lang="ko-KR" altLang="en-US" sz="1200" dirty="0"/>
              <a:t>근육의 통증</a:t>
            </a:r>
            <a:r>
              <a:rPr lang="en-US" altLang="ko-KR" sz="1200" dirty="0"/>
              <a:t>,</a:t>
            </a:r>
            <a:r>
              <a:rPr lang="ko-KR" altLang="en-US" sz="1200" dirty="0"/>
              <a:t> 경련 등</a:t>
            </a:r>
          </a:p>
        </p:txBody>
      </p:sp>
      <p:sp>
        <p:nvSpPr>
          <p:cNvPr id="9" name="포인트가 5개인 별 8"/>
          <p:cNvSpPr/>
          <p:nvPr/>
        </p:nvSpPr>
        <p:spPr>
          <a:xfrm>
            <a:off x="5591944" y="1484784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385"/>
    </mc:Choice>
    <mc:Fallback xmlns="">
      <p:transition spd="slow" advTm="12138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4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1,6-</a:t>
            </a:r>
            <a:r>
              <a:rPr lang="ko-KR" altLang="en-US" sz="2400" b="1" dirty="0" err="1">
                <a:latin typeface="+mn-ea"/>
              </a:rPr>
              <a:t>양인산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b="1" dirty="0" err="1">
                <a:latin typeface="+mn-ea"/>
              </a:rPr>
              <a:t>프럭토스의</a:t>
            </a:r>
            <a:r>
              <a:rPr lang="ko-KR" altLang="en-US" sz="2400" b="1" dirty="0">
                <a:latin typeface="+mn-ea"/>
              </a:rPr>
              <a:t> 분해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 err="1">
                <a:latin typeface="+mn-ea"/>
              </a:rPr>
              <a:t>알돌</a:t>
            </a:r>
            <a:r>
              <a:rPr lang="ko-KR" altLang="en-US" sz="2400" b="1" dirty="0">
                <a:latin typeface="+mn-ea"/>
              </a:rPr>
              <a:t> 분해반응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927648" y="2780928"/>
            <a:ext cx="6264696" cy="2304256"/>
            <a:chOff x="323528" y="1412776"/>
            <a:chExt cx="5317192" cy="1584176"/>
          </a:xfrm>
        </p:grpSpPr>
        <p:pic>
          <p:nvPicPr>
            <p:cNvPr id="3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38809" t="44256" b="14286"/>
            <a:stretch>
              <a:fillRect/>
            </a:stretch>
          </p:blipFill>
          <p:spPr bwMode="auto">
            <a:xfrm>
              <a:off x="2915816" y="1534135"/>
              <a:ext cx="2724904" cy="1462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r="40170" b="55102"/>
            <a:stretch>
              <a:fillRect/>
            </a:stretch>
          </p:blipFill>
          <p:spPr bwMode="auto">
            <a:xfrm>
              <a:off x="323528" y="1412776"/>
              <a:ext cx="2664296" cy="1584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직사각형 5"/>
          <p:cNvSpPr/>
          <p:nvPr/>
        </p:nvSpPr>
        <p:spPr>
          <a:xfrm>
            <a:off x="2279576" y="836712"/>
            <a:ext cx="770485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ko-KR" altLang="en-US" b="1" u="sng" dirty="0" err="1">
                <a:solidFill>
                  <a:srgbClr val="0070C0"/>
                </a:solidFill>
              </a:rPr>
              <a:t>알돌레이스</a:t>
            </a:r>
            <a:r>
              <a:rPr lang="en-US" altLang="ko-KR" b="1" u="sng" dirty="0">
                <a:solidFill>
                  <a:srgbClr val="0070C0"/>
                </a:solidFill>
              </a:rPr>
              <a:t>(</a:t>
            </a:r>
            <a:r>
              <a:rPr lang="en-US" altLang="ko-KR" b="1" u="sng" dirty="0" err="1">
                <a:solidFill>
                  <a:srgbClr val="0070C0"/>
                </a:solidFill>
              </a:rPr>
              <a:t>Aldolase</a:t>
            </a:r>
            <a:r>
              <a:rPr lang="en-US" altLang="ko-KR" b="1" u="sng" dirty="0">
                <a:solidFill>
                  <a:srgbClr val="0070C0"/>
                </a:solidFill>
              </a:rPr>
              <a:t>)</a:t>
            </a:r>
            <a:r>
              <a:rPr lang="ko-KR" altLang="en-US" b="1" dirty="0"/>
              <a:t>에 의해 </a:t>
            </a:r>
            <a:r>
              <a:rPr lang="en-US" altLang="ko-KR" b="1" dirty="0"/>
              <a:t>6</a:t>
            </a:r>
            <a:r>
              <a:rPr lang="ko-KR" altLang="en-US" b="1" dirty="0" err="1"/>
              <a:t>탄당이</a:t>
            </a:r>
            <a:r>
              <a:rPr lang="ko-KR" altLang="en-US" b="1" dirty="0"/>
              <a:t> </a:t>
            </a:r>
            <a:r>
              <a:rPr lang="en-US" altLang="ko-KR" b="1" dirty="0"/>
              <a:t>2</a:t>
            </a:r>
            <a:r>
              <a:rPr lang="ko-KR" altLang="en-US" b="1" dirty="0"/>
              <a:t>개의 </a:t>
            </a:r>
            <a:r>
              <a:rPr lang="en-US" altLang="ko-KR" b="1" dirty="0"/>
              <a:t>3</a:t>
            </a:r>
            <a:r>
              <a:rPr lang="ko-KR" altLang="en-US" b="1" dirty="0" err="1"/>
              <a:t>탄당으로</a:t>
            </a:r>
            <a:r>
              <a:rPr lang="ko-KR" altLang="en-US" b="1" dirty="0"/>
              <a:t> 분해됨</a:t>
            </a:r>
            <a:endParaRPr lang="en-US" altLang="ko-KR" b="1" dirty="0"/>
          </a:p>
        </p:txBody>
      </p:sp>
      <p:sp>
        <p:nvSpPr>
          <p:cNvPr id="8" name="타원 7"/>
          <p:cNvSpPr/>
          <p:nvPr/>
        </p:nvSpPr>
        <p:spPr>
          <a:xfrm>
            <a:off x="6168008" y="3645024"/>
            <a:ext cx="100811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7579290" y="2852936"/>
            <a:ext cx="1008112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567608" y="1486528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하이드록실</a:t>
            </a:r>
            <a:r>
              <a:rPr lang="ko-KR" altLang="en-US" dirty="0">
                <a:latin typeface="+mn-ea"/>
              </a:rPr>
              <a:t> 그룹과 </a:t>
            </a:r>
            <a:r>
              <a:rPr lang="ko-KR" altLang="en-US" dirty="0" err="1">
                <a:latin typeface="+mn-ea"/>
              </a:rPr>
              <a:t>카보닐</a:t>
            </a:r>
            <a:r>
              <a:rPr lang="ko-KR" altLang="en-US" dirty="0">
                <a:latin typeface="+mn-ea"/>
              </a:rPr>
              <a:t> 그룹을 동시에 갖는 분자의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C-C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결합을 절단</a:t>
            </a:r>
            <a:r>
              <a:rPr lang="ko-KR" altLang="en-US" dirty="0">
                <a:latin typeface="+mn-ea"/>
              </a:rPr>
              <a:t>해 두 개의 작은 물질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알데하이드와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  <a:latin typeface="+mn-ea"/>
              </a:rPr>
              <a:t>케톤으로</a:t>
            </a:r>
            <a:r>
              <a:rPr lang="ko-KR" altLang="en-US" b="1" dirty="0">
                <a:solidFill>
                  <a:srgbClr val="0070C0"/>
                </a:solidFill>
                <a:latin typeface="+mn-ea"/>
              </a:rPr>
              <a:t> 분해하는 효소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071664" y="1268760"/>
            <a:ext cx="144016" cy="28803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29"/>
    </mc:Choice>
    <mc:Fallback xmlns="">
      <p:transition spd="slow" advTm="3872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E0768E8-251B-4F19-9B32-4426E5740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3" y="852838"/>
            <a:ext cx="5289183" cy="4724619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7068616" y="1700811"/>
            <a:ext cx="356388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역반응인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aldol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축합으로부터</a:t>
            </a:r>
            <a:r>
              <a:rPr lang="ko-KR" altLang="en-US" sz="1400" dirty="0">
                <a:latin typeface="+mn-ea"/>
              </a:rPr>
              <a:t> 유래된 명칭의 효소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동물 및 식물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aldolase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-Ⅰ),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곰팡이 및 박테리아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aldolase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-Ⅱ)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기질의 </a:t>
            </a:r>
            <a:r>
              <a:rPr lang="ko-KR" altLang="en-US" sz="1400" dirty="0" err="1">
                <a:latin typeface="+mn-ea"/>
              </a:rPr>
              <a:t>카보닐기와</a:t>
            </a:r>
            <a:r>
              <a:rPr lang="ko-KR" altLang="en-US" sz="1400" dirty="0">
                <a:latin typeface="+mn-ea"/>
              </a:rPr>
              <a:t> 효소 활성 부위의 </a:t>
            </a:r>
            <a:r>
              <a:rPr lang="ko-KR" altLang="en-US" sz="1400" dirty="0" err="1">
                <a:latin typeface="+mn-ea"/>
              </a:rPr>
              <a:t>라이신이</a:t>
            </a:r>
            <a:r>
              <a:rPr lang="ko-KR" altLang="en-US" sz="1400" dirty="0">
                <a:latin typeface="+mn-ea"/>
              </a:rPr>
              <a:t> 공유결합</a:t>
            </a:r>
            <a:r>
              <a:rPr lang="en-US" altLang="ko-KR" sz="1400" dirty="0">
                <a:latin typeface="+mn-ea"/>
              </a:rPr>
              <a:t>: Schiff </a:t>
            </a:r>
            <a:r>
              <a:rPr lang="ko-KR" altLang="en-US" sz="1400" dirty="0">
                <a:latin typeface="+mn-ea"/>
              </a:rPr>
              <a:t>염기 형성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 err="1">
                <a:latin typeface="+mn-ea"/>
              </a:rPr>
              <a:t>수산기</a:t>
            </a:r>
            <a:r>
              <a:rPr lang="en-US" altLang="ko-KR" sz="1400" dirty="0">
                <a:latin typeface="+mn-ea"/>
              </a:rPr>
              <a:t>(OH)</a:t>
            </a:r>
            <a:r>
              <a:rPr lang="ko-KR" altLang="en-US" sz="1400" dirty="0">
                <a:latin typeface="+mn-ea"/>
              </a:rPr>
              <a:t>의 산성도를 높여서 절단을 촉진시킴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세균이나 곰팡이의 경우는 금속이온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보통 </a:t>
            </a:r>
            <a:r>
              <a:rPr lang="en-US" altLang="ko-KR" sz="1400" dirty="0">
                <a:latin typeface="+mn-ea"/>
              </a:rPr>
              <a:t>Zn</a:t>
            </a:r>
            <a:r>
              <a:rPr lang="en-US" altLang="ko-KR" sz="1400" baseline="30000" dirty="0">
                <a:latin typeface="+mn-ea"/>
              </a:rPr>
              <a:t>++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 활성에 중요하게 작용한다</a:t>
            </a:r>
            <a:r>
              <a:rPr lang="en-US" altLang="ko-KR" sz="1400" dirty="0">
                <a:latin typeface="+mn-ea"/>
              </a:rPr>
              <a:t>. 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151784" y="404664"/>
            <a:ext cx="3805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ko-KR" alt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알돌레이스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Aldolase</a:t>
            </a: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부제목 2"/>
          <p:cNvSpPr txBox="1">
            <a:spLocks/>
          </p:cNvSpPr>
          <p:nvPr/>
        </p:nvSpPr>
        <p:spPr>
          <a:xfrm>
            <a:off x="1991544" y="5661248"/>
            <a:ext cx="18002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14-5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4943872" y="3140968"/>
            <a:ext cx="1152128" cy="1152128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2639616" y="3068960"/>
            <a:ext cx="1152128" cy="1152128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04"/>
    </mc:Choice>
    <mc:Fallback xmlns="">
      <p:transition spd="slow" advTm="88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2400" b="1" dirty="0">
                <a:latin typeface="+mn-ea"/>
              </a:rPr>
              <a:t>인산 </a:t>
            </a:r>
            <a:r>
              <a:rPr lang="ko-KR" altLang="en-US" sz="2400" b="1" dirty="0" err="1">
                <a:latin typeface="+mn-ea"/>
              </a:rPr>
              <a:t>삼탄당의</a:t>
            </a:r>
            <a:r>
              <a:rPr lang="ko-KR" altLang="en-US" sz="2400" b="1" dirty="0">
                <a:latin typeface="+mn-ea"/>
              </a:rPr>
              <a:t> 상호변환</a:t>
            </a:r>
            <a:r>
              <a:rPr lang="en-US" altLang="ko-KR" sz="2400" b="1" dirty="0">
                <a:latin typeface="+mn-ea"/>
              </a:rPr>
              <a:t> (</a:t>
            </a:r>
            <a:r>
              <a:rPr lang="ko-KR" altLang="en-US" sz="2400" b="1" dirty="0" err="1">
                <a:latin typeface="+mn-ea"/>
              </a:rPr>
              <a:t>이성질화</a:t>
            </a:r>
            <a:r>
              <a:rPr lang="ko-KR" altLang="en-US" sz="2400" b="1" dirty="0">
                <a:latin typeface="+mn-ea"/>
              </a:rPr>
              <a:t> 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 b="17949"/>
          <a:stretch>
            <a:fillRect/>
          </a:stretch>
        </p:blipFill>
        <p:spPr bwMode="auto">
          <a:xfrm>
            <a:off x="3215683" y="1916832"/>
            <a:ext cx="6723783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3359696" y="908720"/>
            <a:ext cx="561662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 err="1">
                <a:latin typeface="+mn-ea"/>
              </a:rPr>
              <a:t>다이하이드록시아세톤는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인산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삼탄당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아이소머레이스</a:t>
            </a:r>
            <a:r>
              <a:rPr lang="ko-KR" altLang="en-US" sz="1600" b="1" dirty="0" err="1">
                <a:latin typeface="+mn-ea"/>
              </a:rPr>
              <a:t>에</a:t>
            </a:r>
            <a:r>
              <a:rPr lang="ko-KR" altLang="en-US" sz="1600" b="1" dirty="0">
                <a:latin typeface="+mn-ea"/>
              </a:rPr>
              <a:t> 의해 신속하게 </a:t>
            </a:r>
            <a:r>
              <a:rPr lang="en-US" altLang="ko-KR" sz="1600" b="1" dirty="0">
                <a:latin typeface="+mn-ea"/>
              </a:rPr>
              <a:t>3-</a:t>
            </a:r>
            <a:r>
              <a:rPr lang="ko-KR" altLang="en-US" sz="1600" b="1" dirty="0">
                <a:latin typeface="+mn-ea"/>
              </a:rPr>
              <a:t>인산 </a:t>
            </a:r>
            <a:r>
              <a:rPr lang="ko-KR" altLang="en-US" sz="1600" b="1" dirty="0" err="1">
                <a:latin typeface="+mn-ea"/>
              </a:rPr>
              <a:t>글리세르알데하이드로</a:t>
            </a:r>
            <a:r>
              <a:rPr lang="ko-KR" altLang="en-US" sz="1600" b="1" dirty="0">
                <a:latin typeface="+mn-ea"/>
              </a:rPr>
              <a:t> 변환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37"/>
    </mc:Choice>
    <mc:Fallback xmlns="">
      <p:transition spd="slow" advTm="2163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8-13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1747" y="980728"/>
            <a:ext cx="5121325" cy="2565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직사각형 1"/>
          <p:cNvSpPr/>
          <p:nvPr/>
        </p:nvSpPr>
        <p:spPr>
          <a:xfrm>
            <a:off x="1881158" y="2354013"/>
            <a:ext cx="4680520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DHAP</a:t>
            </a:r>
            <a:r>
              <a:rPr lang="ko-KR" altLang="en-US" sz="1400" dirty="0"/>
              <a:t>는 엔디올 </a:t>
            </a:r>
            <a:r>
              <a:rPr lang="ko-KR" altLang="en-US" sz="1400" dirty="0" err="1"/>
              <a:t>중간체를</a:t>
            </a:r>
            <a:r>
              <a:rPr lang="ko-KR" altLang="en-US" sz="1400" dirty="0"/>
              <a:t> 거치면서 </a:t>
            </a:r>
            <a:r>
              <a:rPr lang="ko-KR" altLang="en-US" sz="1400" dirty="0" err="1"/>
              <a:t>이성질화된다</a:t>
            </a:r>
            <a:r>
              <a:rPr lang="en-US" altLang="ko-KR" sz="1400" dirty="0"/>
              <a:t>. </a:t>
            </a:r>
          </a:p>
        </p:txBody>
      </p:sp>
      <p:pic>
        <p:nvPicPr>
          <p:cNvPr id="3" name="Picture 7" descr="18un08.jpg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76320" y="188640"/>
            <a:ext cx="140364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1703512" y="188643"/>
            <a:ext cx="6433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5) 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인산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삼탄당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아이소머레이스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(=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탄당인산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이성화효소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Tr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</a:rPr>
              <a:t>iose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phosphate 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</a:rPr>
              <a:t>isomerase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7" name="부제목 2"/>
          <p:cNvSpPr txBox="1">
            <a:spLocks/>
          </p:cNvSpPr>
          <p:nvPr/>
        </p:nvSpPr>
        <p:spPr>
          <a:xfrm>
            <a:off x="5195900" y="6386002"/>
            <a:ext cx="18002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14-6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9" name="부제목 2"/>
          <p:cNvSpPr txBox="1">
            <a:spLocks/>
          </p:cNvSpPr>
          <p:nvPr/>
        </p:nvSpPr>
        <p:spPr>
          <a:xfrm>
            <a:off x="5953092" y="3786190"/>
            <a:ext cx="4714908" cy="714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“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결국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, 2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개의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3-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인산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글리세르알데하이드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생성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”</a:t>
            </a:r>
            <a:endParaRPr lang="ko-KR" altLang="en-US" sz="16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포인트가 5개인 별 9"/>
          <p:cNvSpPr/>
          <p:nvPr/>
        </p:nvSpPr>
        <p:spPr>
          <a:xfrm>
            <a:off x="8328248" y="3356992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C84636-DFF4-45B1-9E9D-E096DB4C8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13" y="2919742"/>
            <a:ext cx="3563749" cy="37496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D75B440-4FBC-4F6E-8869-2E4BF332C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193" y="4396833"/>
            <a:ext cx="3201103" cy="2092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55"/>
    </mc:Choice>
    <mc:Fallback xmlns="">
      <p:transition spd="slow" advTm="6215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247722" y="-31159"/>
            <a:ext cx="5514843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-</a:t>
            </a:r>
            <a:r>
              <a:rPr lang="ko-KR" altLang="en-US" b="1" i="1" dirty="0" err="1">
                <a:solidFill>
                  <a:srgbClr val="00B050"/>
                </a:solidFill>
                <a:latin typeface="+mn-ea"/>
              </a:rPr>
              <a:t>당분해의</a:t>
            </a:r>
            <a:r>
              <a:rPr lang="ko-KR" altLang="en-US" b="1" i="1" dirty="0">
                <a:solidFill>
                  <a:srgbClr val="00B050"/>
                </a:solidFill>
                <a:latin typeface="+mn-ea"/>
              </a:rPr>
              <a:t> 지급기에서는 </a:t>
            </a: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ATP</a:t>
            </a:r>
            <a:r>
              <a:rPr lang="ko-KR" altLang="en-US" b="1" i="1" dirty="0">
                <a:solidFill>
                  <a:srgbClr val="00B050"/>
                </a:solidFill>
                <a:latin typeface="+mn-ea"/>
              </a:rPr>
              <a:t>와 </a:t>
            </a: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NADH</a:t>
            </a:r>
            <a:r>
              <a:rPr lang="ko-KR" altLang="en-US" b="1" i="1" dirty="0">
                <a:solidFill>
                  <a:srgbClr val="00B050"/>
                </a:solidFill>
                <a:latin typeface="+mn-ea"/>
              </a:rPr>
              <a:t>를 생성한다</a:t>
            </a:r>
            <a:r>
              <a:rPr lang="en-US" altLang="ko-KR" b="1" i="1" dirty="0">
                <a:solidFill>
                  <a:srgbClr val="00B050"/>
                </a:solidFill>
                <a:latin typeface="+mn-ea"/>
              </a:rPr>
              <a:t>-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847528" y="404667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3-</a:t>
            </a:r>
            <a:r>
              <a:rPr lang="ko-KR" altLang="en-US" sz="2400" b="1" dirty="0">
                <a:latin typeface="+mn-ea"/>
              </a:rPr>
              <a:t>인산 </a:t>
            </a:r>
            <a:r>
              <a:rPr lang="ko-KR" altLang="en-US" sz="2400" b="1" dirty="0" err="1">
                <a:latin typeface="+mn-ea"/>
              </a:rPr>
              <a:t>글리세르알데하이드의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1,3-</a:t>
            </a:r>
            <a:r>
              <a:rPr lang="ko-KR" altLang="en-US" sz="2400" b="1" dirty="0" err="1">
                <a:latin typeface="+mn-ea"/>
              </a:rPr>
              <a:t>양인산글리세르산</a:t>
            </a:r>
            <a:r>
              <a:rPr lang="en-US" altLang="ko-KR" sz="2400" b="1" dirty="0">
                <a:latin typeface="+mn-ea"/>
              </a:rPr>
              <a:t>	</a:t>
            </a:r>
            <a:r>
              <a:rPr lang="ko-KR" altLang="en-US" sz="2400" b="1" dirty="0">
                <a:latin typeface="+mn-ea"/>
              </a:rPr>
              <a:t>으로의 산화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>
                <a:latin typeface="+mn-ea"/>
              </a:rPr>
              <a:t>산화반응과 인산화 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124470" y="2852936"/>
            <a:ext cx="6211890" cy="2736304"/>
            <a:chOff x="467544" y="1368152"/>
            <a:chExt cx="5563818" cy="2132856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b="57381"/>
            <a:stretch>
              <a:fillRect/>
            </a:stretch>
          </p:blipFill>
          <p:spPr bwMode="auto">
            <a:xfrm>
              <a:off x="467544" y="1700808"/>
              <a:ext cx="4339682" cy="1584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l="64712" t="42619"/>
            <a:stretch>
              <a:fillRect/>
            </a:stretch>
          </p:blipFill>
          <p:spPr bwMode="auto">
            <a:xfrm>
              <a:off x="4499992" y="1368152"/>
              <a:ext cx="1531370" cy="2132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직사각형 7"/>
          <p:cNvSpPr/>
          <p:nvPr/>
        </p:nvSpPr>
        <p:spPr>
          <a:xfrm>
            <a:off x="1740024" y="1355284"/>
            <a:ext cx="8927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- 3-</a:t>
            </a:r>
            <a:r>
              <a:rPr lang="ko-KR" altLang="en-US" sz="1600" b="1" dirty="0">
                <a:latin typeface="+mn-ea"/>
              </a:rPr>
              <a:t>인산 </a:t>
            </a:r>
            <a:r>
              <a:rPr lang="ko-KR" altLang="en-US" sz="1600" b="1" dirty="0" err="1">
                <a:latin typeface="+mn-ea"/>
              </a:rPr>
              <a:t>글리세르알데하이드가</a:t>
            </a:r>
            <a:r>
              <a:rPr lang="ko-KR" altLang="en-US" sz="1600" b="1" dirty="0">
                <a:latin typeface="+mn-ea"/>
              </a:rPr>
              <a:t> 산화반응과 </a:t>
            </a:r>
            <a:r>
              <a:rPr lang="ko-KR" altLang="en-US" sz="1600" b="1" dirty="0" err="1">
                <a:latin typeface="+mn-ea"/>
              </a:rPr>
              <a:t>인산화반응에</a:t>
            </a:r>
            <a:r>
              <a:rPr lang="ko-KR" altLang="en-US" sz="1600" b="1" dirty="0">
                <a:latin typeface="+mn-ea"/>
              </a:rPr>
              <a:t> 의해 </a:t>
            </a:r>
            <a:r>
              <a:rPr lang="en-US" altLang="ko-KR" sz="1600" b="1" dirty="0">
                <a:latin typeface="+mn-ea"/>
              </a:rPr>
              <a:t>1,3-</a:t>
            </a:r>
            <a:r>
              <a:rPr lang="ko-KR" altLang="en-US" sz="1600" b="1" dirty="0" err="1">
                <a:latin typeface="+mn-ea"/>
              </a:rPr>
              <a:t>양인산글리세르산이</a:t>
            </a:r>
            <a:r>
              <a:rPr lang="ko-KR" altLang="en-US" sz="1600" b="1" dirty="0">
                <a:latin typeface="+mn-ea"/>
              </a:rPr>
              <a:t> 됨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3-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인산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글리세르알데하이드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데하이드로제네이스</a:t>
            </a:r>
            <a:r>
              <a:rPr lang="ko-KR" altLang="en-US" sz="1600" b="1" dirty="0" err="1">
                <a:latin typeface="+mn-ea"/>
              </a:rPr>
              <a:t>에</a:t>
            </a:r>
            <a:r>
              <a:rPr lang="ko-KR" altLang="en-US" sz="1600" b="1" dirty="0">
                <a:latin typeface="+mn-ea"/>
              </a:rPr>
              <a:t> 의해 촉매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latin typeface="+mn-ea"/>
              </a:rPr>
              <a:t> NAD+</a:t>
            </a:r>
            <a:r>
              <a:rPr lang="ko-KR" altLang="en-US" sz="1600" b="1" dirty="0">
                <a:latin typeface="+mn-ea"/>
              </a:rPr>
              <a:t>가 환원되어 </a:t>
            </a:r>
            <a:r>
              <a:rPr lang="en-US" altLang="ko-KR" sz="1600" b="1" dirty="0">
                <a:latin typeface="+mn-ea"/>
              </a:rPr>
              <a:t>NADH </a:t>
            </a:r>
            <a:r>
              <a:rPr lang="ko-KR" altLang="en-US" sz="1600" b="1" dirty="0">
                <a:latin typeface="+mn-ea"/>
              </a:rPr>
              <a:t>한 분자를 얻게 되는 반응</a:t>
            </a:r>
            <a:endParaRPr lang="en-US" altLang="ko-KR" sz="16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  (2</a:t>
            </a:r>
            <a:r>
              <a:rPr lang="ko-KR" altLang="en-US" sz="1600" b="1" dirty="0">
                <a:latin typeface="+mn-ea"/>
              </a:rPr>
              <a:t>분자의 </a:t>
            </a:r>
            <a:r>
              <a:rPr lang="ko-KR" altLang="en-US" sz="1600" b="1" dirty="0" err="1">
                <a:latin typeface="+mn-ea"/>
              </a:rPr>
              <a:t>글리세르알데하이드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3-</a:t>
            </a:r>
            <a:r>
              <a:rPr lang="ko-KR" altLang="en-US" sz="1600" b="1" dirty="0">
                <a:latin typeface="+mn-ea"/>
              </a:rPr>
              <a:t>인산에서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분자의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NADH </a:t>
            </a:r>
            <a:r>
              <a:rPr lang="ko-KR" altLang="en-US" sz="1600" b="1" dirty="0">
                <a:latin typeface="+mn-ea"/>
              </a:rPr>
              <a:t>생성</a:t>
            </a:r>
            <a:r>
              <a:rPr lang="en-US" altLang="ko-KR" sz="1600" b="1" dirty="0">
                <a:latin typeface="+mn-ea"/>
              </a:rPr>
              <a:t>).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536160" y="5157192"/>
            <a:ext cx="2016224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312024" y="3356992"/>
            <a:ext cx="1152128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662"/>
    </mc:Choice>
    <mc:Fallback xmlns="">
      <p:transition spd="slow" advTm="6366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3A42992-D86C-4AB4-8E1D-DFC901AF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5" y="1606986"/>
            <a:ext cx="5353541" cy="412627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464152" y="366618"/>
            <a:ext cx="320384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이 효소는 산화와 인산화를 수반하는 반응을 촉매하며 산화반응에서 유리된 자유에너지의 대부분은 </a:t>
            </a:r>
            <a:r>
              <a:rPr lang="en-US" altLang="ko-KR" sz="1400" dirty="0" err="1">
                <a:latin typeface="+mn-ea"/>
              </a:rPr>
              <a:t>thiohemiacetal</a:t>
            </a:r>
            <a:r>
              <a:rPr lang="en-US" altLang="ko-KR" sz="1400" dirty="0">
                <a:latin typeface="+mn-ea"/>
              </a:rPr>
              <a:t> intermediate</a:t>
            </a:r>
            <a:r>
              <a:rPr lang="ko-KR" altLang="en-US" sz="1400" dirty="0">
                <a:latin typeface="+mn-ea"/>
              </a:rPr>
              <a:t>에 보존되었다가 인산화에 이용된다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G-3-P</a:t>
            </a:r>
            <a:r>
              <a:rPr lang="ko-KR" altLang="en-US" sz="1400" dirty="0">
                <a:latin typeface="+mn-ea"/>
              </a:rPr>
              <a:t>의 카르보닐 기에서 </a:t>
            </a:r>
            <a:r>
              <a:rPr lang="en-US" altLang="ko-KR" sz="1400" dirty="0">
                <a:latin typeface="+mn-ea"/>
              </a:rPr>
              <a:t>hydride ion(H</a:t>
            </a:r>
            <a:r>
              <a:rPr lang="en-US" altLang="ko-KR" sz="1400" baseline="30000" dirty="0">
                <a:latin typeface="+mn-ea"/>
              </a:rPr>
              <a:t>-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가 떨어져나오는 반응은 </a:t>
            </a:r>
            <a:r>
              <a:rPr lang="ko-KR" altLang="en-US" sz="1400" dirty="0" err="1">
                <a:latin typeface="+mn-ea"/>
              </a:rPr>
              <a:t>카르보닐기</a:t>
            </a:r>
            <a:r>
              <a:rPr lang="ko-KR" altLang="en-US" sz="1400" dirty="0">
                <a:latin typeface="+mn-ea"/>
              </a:rPr>
              <a:t> 자체의 극성 때문에 쉽지 않다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효소는 이 탄소원자를 덜 양으로 </a:t>
            </a:r>
            <a:r>
              <a:rPr lang="ko-KR" altLang="en-US" sz="1400" dirty="0" err="1">
                <a:latin typeface="+mn-ea"/>
              </a:rPr>
              <a:t>하전된</a:t>
            </a:r>
            <a:r>
              <a:rPr lang="ko-KR" altLang="en-US" sz="1400" dirty="0">
                <a:latin typeface="+mn-ea"/>
              </a:rPr>
              <a:t> 상태로 만들어 줌으로써 이 반응을 가능케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이를 위해 효소의 활성부위에 있는 </a:t>
            </a:r>
            <a:r>
              <a:rPr lang="en-US" altLang="ko-KR" sz="1400" dirty="0" err="1">
                <a:latin typeface="+mn-ea"/>
              </a:rPr>
              <a:t>cysteine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잔기의 </a:t>
            </a:r>
            <a:r>
              <a:rPr lang="en-US" altLang="ko-KR" sz="1400" dirty="0">
                <a:latin typeface="+mn-ea"/>
              </a:rPr>
              <a:t>SH</a:t>
            </a:r>
            <a:r>
              <a:rPr lang="ko-KR" altLang="en-US" sz="1400" dirty="0">
                <a:latin typeface="+mn-ea"/>
              </a:rPr>
              <a:t>기에 의한 친핵성 첨가반응이 일어난다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이러한 산화과정에서 나오는 에너지는 </a:t>
            </a:r>
            <a:r>
              <a:rPr lang="en-US" altLang="ko-KR" sz="1400" dirty="0" err="1">
                <a:latin typeface="+mn-ea"/>
              </a:rPr>
              <a:t>acyl</a:t>
            </a:r>
            <a:r>
              <a:rPr lang="en-US" altLang="ko-KR" sz="1400" dirty="0">
                <a:latin typeface="+mn-ea"/>
              </a:rPr>
              <a:t> intermediate</a:t>
            </a:r>
            <a:r>
              <a:rPr lang="ko-KR" altLang="en-US" sz="1400" dirty="0">
                <a:latin typeface="+mn-ea"/>
              </a:rPr>
              <a:t>에 보존되고</a:t>
            </a:r>
            <a:r>
              <a:rPr lang="en-US" altLang="ko-KR" sz="1400" dirty="0">
                <a:latin typeface="+mn-ea"/>
              </a:rPr>
              <a:t>, NADH</a:t>
            </a:r>
            <a:r>
              <a:rPr lang="ko-KR" altLang="en-US" sz="1400" dirty="0">
                <a:latin typeface="+mn-ea"/>
              </a:rPr>
              <a:t>가 떨어져나가면서 인산기가 결합한다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991544" y="260648"/>
            <a:ext cx="51845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6) 3-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인산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글리세르알데하이드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데하이드로제네이스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(=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글리세르알데하이드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3-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인산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탈수소효소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</a:rPr>
              <a:t>glyceraldehyde</a:t>
            </a:r>
            <a:r>
              <a:rPr lang="en-US" altLang="ko-KR" b="1" dirty="0">
                <a:solidFill>
                  <a:srgbClr val="FF0000"/>
                </a:solidFill>
              </a:rPr>
              <a:t> 3-phosphate </a:t>
            </a:r>
            <a:r>
              <a:rPr lang="en-US" altLang="ko-KR" b="1" dirty="0" err="1">
                <a:solidFill>
                  <a:srgbClr val="FF0000"/>
                </a:solidFill>
              </a:rPr>
              <a:t>dehydrogenase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5" name="부제목 2"/>
          <p:cNvSpPr txBox="1">
            <a:spLocks/>
          </p:cNvSpPr>
          <p:nvPr/>
        </p:nvSpPr>
        <p:spPr>
          <a:xfrm>
            <a:off x="3827749" y="6095908"/>
            <a:ext cx="18002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14-7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567608" y="1628800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4295800" y="4797152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31"/>
    </mc:Choice>
    <mc:Fallback xmlns="">
      <p:transition spd="slow" advTm="893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1,3-</a:t>
            </a:r>
            <a:r>
              <a:rPr lang="ko-KR" altLang="en-US" sz="2400" b="1" dirty="0" err="1">
                <a:latin typeface="+mn-ea"/>
              </a:rPr>
              <a:t>양인산글리세르산에서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ADP</a:t>
            </a:r>
            <a:r>
              <a:rPr lang="ko-KR" altLang="en-US" sz="2400" b="1" dirty="0">
                <a:latin typeface="+mn-ea"/>
              </a:rPr>
              <a:t>로의 </a:t>
            </a:r>
            <a:r>
              <a:rPr lang="ko-KR" altLang="en-US" sz="2400" b="1" dirty="0" err="1">
                <a:latin typeface="+mn-ea"/>
              </a:rPr>
              <a:t>인산기</a:t>
            </a:r>
            <a:r>
              <a:rPr lang="ko-KR" altLang="en-US" sz="2400" b="1" dirty="0">
                <a:latin typeface="+mn-ea"/>
              </a:rPr>
              <a:t> 전달</a:t>
            </a:r>
            <a:r>
              <a:rPr lang="en-US" altLang="ko-KR" sz="2400" b="1" dirty="0">
                <a:latin typeface="+mn-ea"/>
              </a:rPr>
              <a:t>	(</a:t>
            </a:r>
            <a:r>
              <a:rPr lang="ko-KR" altLang="en-US" sz="2400" b="1" dirty="0" err="1">
                <a:latin typeface="+mn-ea"/>
              </a:rPr>
              <a:t>인산기</a:t>
            </a:r>
            <a:r>
              <a:rPr lang="ko-KR" altLang="en-US" sz="2400" b="1" dirty="0">
                <a:latin typeface="+mn-ea"/>
              </a:rPr>
              <a:t> 전달반응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/>
          <a:srcRect b="5357"/>
          <a:stretch>
            <a:fillRect/>
          </a:stretch>
        </p:blipFill>
        <p:spPr bwMode="auto">
          <a:xfrm>
            <a:off x="2207568" y="1124747"/>
            <a:ext cx="3528392" cy="4420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5519937" y="1772816"/>
            <a:ext cx="3528392" cy="15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- 1,3-</a:t>
            </a:r>
            <a:r>
              <a:rPr lang="ko-KR" altLang="en-US" sz="1600" b="1" dirty="0" err="1">
                <a:latin typeface="+mn-ea"/>
              </a:rPr>
              <a:t>양인산글리세르산은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인산글리세르산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카이네이스</a:t>
            </a:r>
            <a:r>
              <a:rPr lang="ko-KR" altLang="en-US" sz="1600" b="1" dirty="0" err="1">
                <a:latin typeface="+mn-ea"/>
              </a:rPr>
              <a:t>에</a:t>
            </a:r>
            <a:r>
              <a:rPr lang="ko-KR" altLang="en-US" sz="1600" b="1" dirty="0">
                <a:latin typeface="+mn-ea"/>
              </a:rPr>
              <a:t> 의해 </a:t>
            </a:r>
            <a:r>
              <a:rPr lang="en-US" altLang="ko-KR" sz="1600" b="1" dirty="0">
                <a:latin typeface="+mn-ea"/>
              </a:rPr>
              <a:t>3-</a:t>
            </a:r>
            <a:r>
              <a:rPr lang="ko-KR" altLang="en-US" sz="1600" b="1" dirty="0" err="1">
                <a:latin typeface="+mn-ea"/>
              </a:rPr>
              <a:t>인산글리세르산이</a:t>
            </a:r>
            <a:r>
              <a:rPr lang="ko-KR" altLang="en-US" sz="1600" b="1" dirty="0">
                <a:latin typeface="+mn-ea"/>
              </a:rPr>
              <a:t> 됨</a:t>
            </a:r>
            <a:r>
              <a:rPr lang="en-US" altLang="ko-KR" sz="16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이 반응에서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ATP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를 생성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포인트가 5개인 별 5"/>
          <p:cNvSpPr/>
          <p:nvPr/>
        </p:nvSpPr>
        <p:spPr>
          <a:xfrm>
            <a:off x="4943872" y="2564904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677580" y="3335091"/>
            <a:ext cx="1944216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기질수준인산화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6245532" y="3484561"/>
            <a:ext cx="432048" cy="1941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19"/>
    </mc:Choice>
    <mc:Fallback xmlns="">
      <p:transition spd="slow" advTm="6521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91544" y="1268760"/>
            <a:ext cx="669674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 1,3-</a:t>
            </a:r>
            <a:r>
              <a:rPr lang="ko-KR" altLang="en-US" sz="1600" dirty="0" err="1"/>
              <a:t>양인산글리세르산에서</a:t>
            </a:r>
            <a:r>
              <a:rPr lang="ko-KR" altLang="en-US" sz="1600" dirty="0"/>
              <a:t> </a:t>
            </a:r>
            <a:r>
              <a:rPr lang="en-US" altLang="ko-KR" sz="1600" dirty="0"/>
              <a:t>ADP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인산기를</a:t>
            </a:r>
            <a:r>
              <a:rPr lang="ko-KR" altLang="en-US" sz="1600" dirty="0"/>
              <a:t> 전달하여 </a:t>
            </a:r>
            <a:r>
              <a:rPr lang="en-US" altLang="ko-KR" sz="1600" dirty="0"/>
              <a:t>ATP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만듬</a:t>
            </a:r>
            <a:endParaRPr lang="en-US" altLang="ko-KR" sz="16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 ATP </a:t>
            </a:r>
            <a:r>
              <a:rPr lang="ko-KR" altLang="en-US" sz="1600" dirty="0"/>
              <a:t>회수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559496" y="332659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7)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인산글리세르산카이네이스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(=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포스포글리세르산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인산화효소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</a:rPr>
              <a:t>hosphoglycerate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</a:rPr>
              <a:t>kinase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pic>
        <p:nvPicPr>
          <p:cNvPr id="4" name="Picture 2" descr="http://chemistry.umeche.maine.edu/CHY431/3pg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7060" y="1"/>
            <a:ext cx="2130940" cy="1484784"/>
          </a:xfrm>
          <a:prstGeom prst="rect">
            <a:avLst/>
          </a:prstGeom>
          <a:noFill/>
        </p:spPr>
      </p:pic>
      <p:pic>
        <p:nvPicPr>
          <p:cNvPr id="5" name="Picture 6" descr="f18-01A.jpg"/>
          <p:cNvPicPr>
            <a:picLocks noChangeArrowheads="1"/>
          </p:cNvPicPr>
          <p:nvPr/>
        </p:nvPicPr>
        <p:blipFill>
          <a:blip r:embed="rId4" cstate="print"/>
          <a:srcRect l="47724" t="38751"/>
          <a:stretch>
            <a:fillRect/>
          </a:stretch>
        </p:blipFill>
        <p:spPr bwMode="auto">
          <a:xfrm>
            <a:off x="3647728" y="2060848"/>
            <a:ext cx="468052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4"/>
    </mc:Choice>
    <mc:Fallback xmlns="">
      <p:transition spd="slow" advTm="843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8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3-</a:t>
            </a:r>
            <a:r>
              <a:rPr lang="ko-KR" altLang="en-US" sz="2400" b="1" dirty="0" err="1">
                <a:latin typeface="+mn-ea"/>
              </a:rPr>
              <a:t>인산글리세르산의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2-</a:t>
            </a:r>
            <a:r>
              <a:rPr lang="ko-KR" altLang="en-US" sz="2400" b="1" dirty="0" err="1">
                <a:latin typeface="+mn-ea"/>
              </a:rPr>
              <a:t>인산글리세르산으로의</a:t>
            </a:r>
            <a:r>
              <a:rPr lang="ko-KR" altLang="en-US" sz="2400" b="1" dirty="0">
                <a:latin typeface="+mn-ea"/>
              </a:rPr>
              <a:t> 변환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 rotWithShape="1">
          <a:blip r:embed="rId3" cstate="print"/>
          <a:srcRect b="38697"/>
          <a:stretch/>
        </p:blipFill>
        <p:spPr bwMode="auto">
          <a:xfrm>
            <a:off x="3071664" y="2348881"/>
            <a:ext cx="5942434" cy="1733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567608" y="980728"/>
            <a:ext cx="7200800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600" b="1" dirty="0"/>
              <a:t>- </a:t>
            </a:r>
            <a:r>
              <a:rPr lang="ko-KR" altLang="en-US" sz="1600" b="1" dirty="0" err="1"/>
              <a:t>인산기</a:t>
            </a:r>
            <a:r>
              <a:rPr lang="ko-KR" altLang="en-US" sz="1600" b="1" dirty="0"/>
              <a:t> 전달 반응으로 </a:t>
            </a:r>
            <a:r>
              <a:rPr lang="ko-KR" altLang="en-US" sz="1600" b="1" dirty="0" err="1"/>
              <a:t>자리옮김효소인</a:t>
            </a:r>
            <a:r>
              <a:rPr lang="ko-KR" altLang="en-US" sz="1600" b="1" dirty="0"/>
              <a:t> </a:t>
            </a:r>
            <a:r>
              <a:rPr lang="ko-KR" altLang="en-US" sz="1600" b="1" dirty="0" err="1">
                <a:solidFill>
                  <a:srgbClr val="0070C0"/>
                </a:solidFill>
              </a:rPr>
              <a:t>인산글리세르산뮤테이스</a:t>
            </a:r>
            <a:r>
              <a:rPr lang="ko-KR" altLang="en-US" sz="1600" b="1" dirty="0" err="1"/>
              <a:t>에</a:t>
            </a:r>
            <a:r>
              <a:rPr lang="ko-KR" altLang="en-US" sz="1600" b="1" dirty="0"/>
              <a:t> 의해 </a:t>
            </a:r>
            <a:r>
              <a:rPr lang="ko-KR" altLang="en-US" sz="1600" b="1" dirty="0" err="1"/>
              <a:t>인산기의</a:t>
            </a:r>
            <a:r>
              <a:rPr lang="ko-KR" altLang="en-US" sz="1600" b="1" dirty="0"/>
              <a:t> 자리가 옮겨짐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- </a:t>
            </a:r>
            <a:r>
              <a:rPr lang="ko-KR" altLang="en-US" sz="1600" b="1" dirty="0" err="1"/>
              <a:t>자리옮김효소</a:t>
            </a:r>
            <a:r>
              <a:rPr lang="en-US" altLang="ko-KR" sz="1600" b="1" dirty="0"/>
              <a:t>(</a:t>
            </a:r>
            <a:r>
              <a:rPr lang="en-US" altLang="ko-KR" sz="1600" b="1" dirty="0" err="1"/>
              <a:t>mutase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는 이성질화효소</a:t>
            </a:r>
            <a:r>
              <a:rPr lang="en-US" altLang="ko-KR" sz="1600" b="1" dirty="0"/>
              <a:t>(</a:t>
            </a:r>
            <a:r>
              <a:rPr lang="en-US" altLang="ko-KR" sz="1600" b="1" dirty="0" err="1"/>
              <a:t>isomerase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의 </a:t>
            </a:r>
            <a:r>
              <a:rPr lang="en-US" altLang="ko-KR" sz="1600" b="1" dirty="0"/>
              <a:t>subclass</a:t>
            </a:r>
            <a:r>
              <a:rPr lang="ko-KR" altLang="en-US" sz="1600" b="1" dirty="0"/>
              <a:t>에 속함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9EAEBD-F00C-42A1-84C2-EC0DFE6E8455}"/>
              </a:ext>
            </a:extLst>
          </p:cNvPr>
          <p:cNvSpPr/>
          <p:nvPr/>
        </p:nvSpPr>
        <p:spPr>
          <a:xfrm>
            <a:off x="3245372" y="4125973"/>
            <a:ext cx="2023120" cy="421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600" b="1"/>
              <a:t>3-</a:t>
            </a:r>
            <a:r>
              <a:rPr lang="ko-KR" altLang="en-US" sz="1600" b="1" dirty="0" err="1"/>
              <a:t>인산글리세르산</a:t>
            </a:r>
            <a:endParaRPr lang="ko-KR" altLang="en-US" sz="16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0E6B92-3799-4120-BB42-9C17C639FBD3}"/>
              </a:ext>
            </a:extLst>
          </p:cNvPr>
          <p:cNvSpPr/>
          <p:nvPr/>
        </p:nvSpPr>
        <p:spPr>
          <a:xfrm>
            <a:off x="6939462" y="4125973"/>
            <a:ext cx="2023120" cy="421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US" altLang="ko-KR" sz="1600" b="1" dirty="0"/>
              <a:t>2-</a:t>
            </a:r>
            <a:r>
              <a:rPr lang="ko-KR" altLang="en-US" sz="1600" b="1" dirty="0" err="1"/>
              <a:t>인산글리세르산</a:t>
            </a:r>
            <a:endParaRPr lang="ko-KR" altLang="en-US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794"/>
    </mc:Choice>
    <mc:Fallback xmlns="">
      <p:transition spd="slow" advTm="69794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375920" y="2348883"/>
            <a:ext cx="43204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i="1" dirty="0"/>
              <a:t> </a:t>
            </a:r>
            <a:r>
              <a:rPr lang="en-US" altLang="ko-KR" sz="1400" b="1" i="1" dirty="0"/>
              <a:t>- </a:t>
            </a:r>
            <a:r>
              <a:rPr lang="en-US" altLang="ko-KR" sz="1400" b="1" dirty="0"/>
              <a:t>3-PG ---&gt; 2-PG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- </a:t>
            </a:r>
            <a:r>
              <a:rPr lang="ko-KR" altLang="en-US" sz="1400" b="1" dirty="0"/>
              <a:t>분자내의 </a:t>
            </a:r>
            <a:r>
              <a:rPr lang="ko-KR" altLang="en-US" sz="1400" b="1" dirty="0" err="1"/>
              <a:t>자리옮김</a:t>
            </a:r>
            <a:r>
              <a:rPr lang="ko-KR" altLang="en-US" sz="1400" b="1" dirty="0"/>
              <a:t> 반응으로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우선 </a:t>
            </a:r>
            <a:r>
              <a:rPr lang="en-US" altLang="ko-KR" sz="1400" b="1" dirty="0" err="1"/>
              <a:t>Enz</a:t>
            </a:r>
            <a:r>
              <a:rPr lang="en-US" altLang="ko-KR" sz="1400" b="1" dirty="0"/>
              <a:t>-his-P </a:t>
            </a:r>
            <a:r>
              <a:rPr lang="ko-KR" altLang="en-US" sz="1400" b="1" dirty="0"/>
              <a:t>가 </a:t>
            </a:r>
            <a:r>
              <a:rPr lang="en-US" altLang="ko-KR" sz="1400" b="1" dirty="0"/>
              <a:t>3-phosphoglycerate</a:t>
            </a:r>
            <a:r>
              <a:rPr lang="ko-KR" altLang="en-US" sz="1400" b="1" dirty="0"/>
              <a:t>의 </a:t>
            </a:r>
            <a:r>
              <a:rPr lang="en-US" altLang="ko-KR" sz="1400" b="1" dirty="0"/>
              <a:t>C-2</a:t>
            </a:r>
            <a:r>
              <a:rPr lang="ko-KR" altLang="en-US" sz="1400" b="1" dirty="0"/>
              <a:t>에 인산기를 전달하면서 </a:t>
            </a:r>
            <a:r>
              <a:rPr lang="en-US" altLang="ko-KR" sz="1400" b="1" dirty="0">
                <a:solidFill>
                  <a:srgbClr val="0070C0"/>
                </a:solidFill>
              </a:rPr>
              <a:t>2,3-BPG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형성하고 이것의 </a:t>
            </a:r>
            <a:r>
              <a:rPr lang="en-US" altLang="ko-KR" sz="1400" b="1" dirty="0"/>
              <a:t>C-3 phosphate</a:t>
            </a:r>
            <a:r>
              <a:rPr lang="ko-KR" altLang="en-US" sz="1400" b="1" dirty="0"/>
              <a:t>는 또다른 </a:t>
            </a:r>
            <a:r>
              <a:rPr lang="en-US" altLang="ko-KR" sz="1400" b="1" dirty="0" err="1"/>
              <a:t>Enz</a:t>
            </a:r>
            <a:r>
              <a:rPr lang="en-US" altLang="ko-KR" sz="1400" b="1" dirty="0"/>
              <a:t>-his</a:t>
            </a:r>
            <a:r>
              <a:rPr lang="ko-KR" altLang="en-US" sz="1400" b="1" dirty="0"/>
              <a:t>에 인산기를 전달하면서 최종적으로 </a:t>
            </a:r>
            <a:r>
              <a:rPr lang="en-US" altLang="ko-KR" sz="1400" b="1" dirty="0"/>
              <a:t>2-phosphoglycerate</a:t>
            </a:r>
            <a:r>
              <a:rPr lang="ko-KR" altLang="en-US" sz="1400" b="1" dirty="0"/>
              <a:t>를 형성한다</a:t>
            </a:r>
            <a:r>
              <a:rPr lang="en-US" altLang="ko-KR" sz="1400" b="1" dirty="0"/>
              <a:t>.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343472" y="251359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8)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인산글리세르산뮤테이스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(=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포스포글리세르산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뮤테이스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b="1" dirty="0" err="1">
                <a:solidFill>
                  <a:srgbClr val="FF0000"/>
                </a:solidFill>
              </a:rPr>
              <a:t>hosphoglyceromutase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pic>
        <p:nvPicPr>
          <p:cNvPr id="5" name="Picture 6" descr="18un14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3656" y="188643"/>
            <a:ext cx="2394347" cy="202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부제목 2"/>
          <p:cNvSpPr txBox="1">
            <a:spLocks/>
          </p:cNvSpPr>
          <p:nvPr/>
        </p:nvSpPr>
        <p:spPr>
          <a:xfrm>
            <a:off x="4079776" y="6450162"/>
            <a:ext cx="18002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</a:rPr>
              <a:t>기전 그림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</a:rPr>
              <a:t>14-8</a:t>
            </a:r>
            <a:endParaRPr lang="ko-KR" altLang="en-US" sz="1600" b="1" dirty="0">
              <a:solidFill>
                <a:srgbClr val="FFC000"/>
              </a:solidFill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763D76-3F56-4275-BF71-97A0C1FF4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3" y="960405"/>
            <a:ext cx="2997295" cy="5723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83"/>
    </mc:Choice>
    <mc:Fallback xmlns="">
      <p:transition spd="slow" advTm="4078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9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en-US" altLang="ko-KR" sz="2400" b="1" dirty="0">
                <a:latin typeface="+mn-ea"/>
              </a:rPr>
              <a:t>2-</a:t>
            </a:r>
            <a:r>
              <a:rPr lang="ko-KR" altLang="en-US" sz="2400" b="1" dirty="0" err="1">
                <a:latin typeface="+mn-ea"/>
              </a:rPr>
              <a:t>인산글리세르산의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b="1" dirty="0" err="1">
                <a:latin typeface="+mn-ea"/>
              </a:rPr>
              <a:t>인산엔올파이루브산으로의</a:t>
            </a:r>
            <a:r>
              <a:rPr lang="ko-KR" altLang="en-US" sz="2400" b="1" dirty="0">
                <a:latin typeface="+mn-ea"/>
              </a:rPr>
              <a:t> 탈수</a:t>
            </a:r>
            <a:r>
              <a:rPr lang="en-US" altLang="ko-KR" sz="2400" b="1" dirty="0">
                <a:latin typeface="+mn-ea"/>
              </a:rPr>
              <a:t>	(</a:t>
            </a:r>
            <a:r>
              <a:rPr lang="ko-KR" altLang="en-US" sz="2400" b="1" dirty="0">
                <a:latin typeface="+mn-ea"/>
              </a:rPr>
              <a:t>탈수반응</a:t>
            </a:r>
            <a:r>
              <a:rPr lang="en-US" altLang="ko-KR" sz="2400" b="1" dirty="0">
                <a:latin typeface="+mn-ea"/>
              </a:rPr>
              <a:t>)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 cstate="print"/>
          <a:srcRect r="11133" b="25009"/>
          <a:stretch>
            <a:fillRect/>
          </a:stretch>
        </p:blipFill>
        <p:spPr bwMode="auto">
          <a:xfrm>
            <a:off x="3359696" y="2636912"/>
            <a:ext cx="558062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63552" y="1268760"/>
            <a:ext cx="8136904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 </a:t>
            </a:r>
            <a:r>
              <a:rPr lang="ko-KR" altLang="en-US" sz="1600" b="1" dirty="0" err="1">
                <a:solidFill>
                  <a:srgbClr val="0070C0"/>
                </a:solidFill>
              </a:rPr>
              <a:t>엔올레이스</a:t>
            </a:r>
            <a:r>
              <a:rPr lang="en-US" altLang="ko-KR" sz="1600" b="1" dirty="0">
                <a:solidFill>
                  <a:srgbClr val="0070C0"/>
                </a:solidFill>
              </a:rPr>
              <a:t>(</a:t>
            </a:r>
            <a:r>
              <a:rPr lang="en-US" altLang="ko-KR" sz="1600" b="1" dirty="0" err="1">
                <a:solidFill>
                  <a:srgbClr val="0070C0"/>
                </a:solidFill>
              </a:rPr>
              <a:t>enolase</a:t>
            </a:r>
            <a:r>
              <a:rPr lang="en-US" altLang="ko-KR" sz="1600" b="1" dirty="0">
                <a:solidFill>
                  <a:srgbClr val="0070C0"/>
                </a:solidFill>
              </a:rPr>
              <a:t>): </a:t>
            </a:r>
            <a:r>
              <a:rPr lang="ko-KR" altLang="en-US" sz="1600" b="1" dirty="0"/>
              <a:t>탈수반응을 </a:t>
            </a:r>
            <a:r>
              <a:rPr lang="ko-KR" altLang="en-US" sz="1600" b="1" dirty="0" err="1"/>
              <a:t>촉매하는</a:t>
            </a:r>
            <a:r>
              <a:rPr lang="ko-KR" altLang="en-US" sz="1600" b="1" dirty="0"/>
              <a:t> 효소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- </a:t>
            </a:r>
            <a:r>
              <a:rPr lang="ko-KR" altLang="en-US" sz="1600" b="1" dirty="0" err="1"/>
              <a:t>엔올레이스에</a:t>
            </a:r>
            <a:r>
              <a:rPr lang="ko-KR" altLang="en-US" sz="1600" b="1" dirty="0"/>
              <a:t> 의해서 </a:t>
            </a:r>
            <a:r>
              <a:rPr lang="ko-KR" altLang="en-US" sz="1600" b="1" dirty="0" err="1"/>
              <a:t>저에너지</a:t>
            </a:r>
            <a:r>
              <a:rPr lang="ko-KR" altLang="en-US" sz="1600" b="1" dirty="0"/>
              <a:t> 인산 화합물인 </a:t>
            </a:r>
            <a:r>
              <a:rPr lang="en-US" altLang="ko-KR" sz="1600" b="1" dirty="0"/>
              <a:t>2-</a:t>
            </a:r>
            <a:r>
              <a:rPr lang="ko-KR" altLang="en-US" sz="1600" b="1" dirty="0" err="1"/>
              <a:t>인산글리세르산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이 초고에너지 인산화합물인 인산엔올파이루브산이 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8"/>
    </mc:Choice>
    <mc:Fallback xmlns="">
      <p:transition spd="slow" advTm="1973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63552" y="2060848"/>
            <a:ext cx="6408712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2-PG ---&gt; PEP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탈수반응으로 </a:t>
            </a:r>
            <a:r>
              <a:rPr lang="ko-KR" altLang="en-US" sz="1600" dirty="0" err="1"/>
              <a:t>고에너지</a:t>
            </a:r>
            <a:r>
              <a:rPr lang="ko-KR" altLang="en-US" sz="1600" dirty="0"/>
              <a:t> 화합물인 </a:t>
            </a:r>
            <a:r>
              <a:rPr lang="en-US" altLang="ko-KR" sz="1600" dirty="0" err="1"/>
              <a:t>phosphoenolpyruvate</a:t>
            </a:r>
            <a:r>
              <a:rPr lang="ko-KR" altLang="en-US" sz="1600" dirty="0"/>
              <a:t>를 합성한다</a:t>
            </a:r>
            <a:r>
              <a:rPr lang="en-US" altLang="ko-KR" sz="1600" dirty="0"/>
              <a:t>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991544" y="260648"/>
            <a:ext cx="5184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9)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엔올레이스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</a:rPr>
              <a:t>Enolase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pic>
        <p:nvPicPr>
          <p:cNvPr id="4" name="Picture 7" descr="18f18AB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9008" y="116632"/>
            <a:ext cx="3483496" cy="16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27"/>
    </mc:Choice>
    <mc:Fallback xmlns="">
      <p:transition spd="slow" advTm="10227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47528" y="188643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2400" b="1" dirty="0" err="1">
                <a:latin typeface="+mn-ea"/>
              </a:rPr>
              <a:t>인산엔올파이루브산으로부터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ADP</a:t>
            </a:r>
            <a:r>
              <a:rPr lang="ko-KR" altLang="en-US" sz="2400" b="1" dirty="0">
                <a:latin typeface="+mn-ea"/>
              </a:rPr>
              <a:t>로의 </a:t>
            </a:r>
            <a:r>
              <a:rPr lang="ko-KR" altLang="en-US" sz="2400" b="1" dirty="0" err="1">
                <a:latin typeface="+mn-ea"/>
              </a:rPr>
              <a:t>인산기</a:t>
            </a:r>
            <a:r>
              <a:rPr lang="ko-KR" altLang="en-US" sz="2400" b="1" dirty="0">
                <a:latin typeface="+mn-ea"/>
              </a:rPr>
              <a:t> 전달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 cstate="print"/>
          <a:srcRect r="14777" b="8621"/>
          <a:stretch>
            <a:fillRect/>
          </a:stretch>
        </p:blipFill>
        <p:spPr bwMode="auto">
          <a:xfrm>
            <a:off x="1991548" y="997786"/>
            <a:ext cx="3240359" cy="4519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5303912" y="1556792"/>
            <a:ext cx="49685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 </a:t>
            </a:r>
            <a:r>
              <a:rPr lang="ko-KR" altLang="en-US" sz="1600" b="1" dirty="0" err="1"/>
              <a:t>인산엔올파이루브산이</a:t>
            </a:r>
            <a:r>
              <a:rPr lang="ko-KR" altLang="en-US" sz="1600" b="1" dirty="0"/>
              <a:t> </a:t>
            </a:r>
            <a:r>
              <a:rPr lang="ko-KR" altLang="en-US" sz="1600" b="1" dirty="0" err="1">
                <a:solidFill>
                  <a:srgbClr val="0070C0"/>
                </a:solidFill>
              </a:rPr>
              <a:t>파이루브산</a:t>
            </a:r>
            <a:r>
              <a:rPr lang="ko-KR" altLang="en-US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 err="1">
                <a:solidFill>
                  <a:srgbClr val="0070C0"/>
                </a:solidFill>
              </a:rPr>
              <a:t>카이네이스</a:t>
            </a:r>
            <a:r>
              <a:rPr lang="ko-KR" altLang="en-US" sz="1600" b="1" dirty="0" err="1"/>
              <a:t>에</a:t>
            </a:r>
            <a:r>
              <a:rPr lang="ko-KR" altLang="en-US" sz="1600" b="1" dirty="0"/>
              <a:t> 의해 한 분자의 </a:t>
            </a:r>
            <a:r>
              <a:rPr lang="en-US" altLang="ko-KR" sz="1600" b="1" dirty="0">
                <a:solidFill>
                  <a:srgbClr val="FF0000"/>
                </a:solidFill>
              </a:rPr>
              <a:t>ATP</a:t>
            </a:r>
            <a:r>
              <a:rPr lang="ko-KR" altLang="en-US" sz="1600" b="1" dirty="0">
                <a:solidFill>
                  <a:srgbClr val="FF0000"/>
                </a:solidFill>
              </a:rPr>
              <a:t>를 생성</a:t>
            </a:r>
            <a:r>
              <a:rPr lang="ko-KR" altLang="en-US" sz="1600" b="1" dirty="0"/>
              <a:t>하면서 </a:t>
            </a:r>
            <a:r>
              <a:rPr lang="ko-KR" altLang="en-US" sz="1600" b="1" dirty="0" err="1"/>
              <a:t>파이루브산이</a:t>
            </a:r>
            <a:r>
              <a:rPr lang="ko-KR" altLang="en-US" sz="1600" b="1" dirty="0"/>
              <a:t> 됨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비가역적</a:t>
            </a:r>
            <a:r>
              <a:rPr lang="en-US" altLang="ko-KR" sz="1600" b="1" dirty="0"/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이때 생성되는 </a:t>
            </a:r>
            <a:r>
              <a:rPr lang="ko-KR" altLang="en-US" sz="1600" b="1" dirty="0" err="1"/>
              <a:t>파이루브산은</a:t>
            </a:r>
            <a:r>
              <a:rPr lang="ko-KR" altLang="en-US" sz="1600" b="1" dirty="0"/>
              <a:t> </a:t>
            </a:r>
            <a:r>
              <a:rPr lang="ko-KR" altLang="en-US" sz="1600" b="1" u="sng" dirty="0" err="1"/>
              <a:t>엔올형</a:t>
            </a:r>
            <a:r>
              <a:rPr lang="ko-KR" altLang="en-US" sz="1600" b="1" dirty="0" err="1"/>
              <a:t>인데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pH 7</a:t>
            </a:r>
            <a:r>
              <a:rPr lang="ko-KR" altLang="en-US" sz="1600" b="1" dirty="0"/>
              <a:t>에서 호변이성질화</a:t>
            </a:r>
            <a:r>
              <a:rPr lang="en-US" altLang="ko-KR" sz="1600" b="1" dirty="0"/>
              <a:t>(</a:t>
            </a:r>
            <a:r>
              <a:rPr lang="en-US" altLang="ko-KR" sz="1600" b="1" dirty="0" err="1"/>
              <a:t>tautomerization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에 의해 비효소적으로 케토형 생성</a:t>
            </a:r>
          </a:p>
        </p:txBody>
      </p:sp>
      <p:sp>
        <p:nvSpPr>
          <p:cNvPr id="6" name="포인트가 5개인 별 5"/>
          <p:cNvSpPr/>
          <p:nvPr/>
        </p:nvSpPr>
        <p:spPr>
          <a:xfrm>
            <a:off x="6816080" y="2276872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735960" y="4077075"/>
            <a:ext cx="48245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ko-KR" sz="1200" b="1" dirty="0" err="1"/>
              <a:t>에놀</a:t>
            </a:r>
            <a:r>
              <a:rPr lang="ko-KR" altLang="ko-KR" sz="1200" dirty="0"/>
              <a:t>(enol) 또는 </a:t>
            </a:r>
            <a:r>
              <a:rPr lang="ko-KR" altLang="ko-KR" sz="1200" b="1" dirty="0" err="1"/>
              <a:t>알켄올</a:t>
            </a:r>
            <a:r>
              <a:rPr lang="ko-KR" altLang="ko-KR" sz="1200" dirty="0"/>
              <a:t>(alkenol)은 </a:t>
            </a:r>
            <a:r>
              <a:rPr lang="ko-KR" altLang="ko-KR" sz="1200" dirty="0" err="1">
                <a:hlinkClick r:id="rId4" action="ppaction://hlinkfile" tooltip="케톤"/>
              </a:rPr>
              <a:t>케톤</a:t>
            </a:r>
            <a:r>
              <a:rPr lang="ko-KR" altLang="ko-KR" sz="1200" dirty="0" err="1"/>
              <a:t>의</a:t>
            </a:r>
            <a:r>
              <a:rPr lang="ko-KR" altLang="ko-KR" sz="1200" dirty="0"/>
              <a:t> </a:t>
            </a:r>
            <a:r>
              <a:rPr lang="ko-KR" altLang="ko-KR" sz="1200" dirty="0" err="1"/>
              <a:t>호변</a:t>
            </a:r>
            <a:r>
              <a:rPr lang="ko-KR" altLang="ko-KR" sz="1200" dirty="0"/>
              <a:t> 이성질체의 하나로, </a:t>
            </a:r>
            <a:r>
              <a:rPr lang="ko-KR" altLang="ko-KR" sz="1200" dirty="0" err="1">
                <a:hlinkClick r:id="rId5" action="ppaction://hlinkfile" tooltip="카르보닐기"/>
              </a:rPr>
              <a:t>카르보닐기</a:t>
            </a:r>
            <a:r>
              <a:rPr lang="ko-KR" altLang="ko-KR" sz="1200" dirty="0" err="1"/>
              <a:t>가</a:t>
            </a:r>
            <a:r>
              <a:rPr lang="ko-KR" altLang="ko-KR" sz="1200" dirty="0"/>
              <a:t> 이중으로 결합하고 있는 </a:t>
            </a:r>
            <a:r>
              <a:rPr lang="ko-KR" altLang="ko-KR" sz="1200" dirty="0">
                <a:hlinkClick r:id="rId6" action="ppaction://hlinkfile" tooltip="알코올"/>
              </a:rPr>
              <a:t>알코올</a:t>
            </a:r>
            <a:r>
              <a:rPr lang="ko-KR" altLang="ko-KR" sz="1200" dirty="0"/>
              <a:t>성 </a:t>
            </a:r>
            <a:r>
              <a:rPr lang="ko-KR" altLang="ko-KR" sz="1200" dirty="0" err="1"/>
              <a:t>수성기로</a:t>
            </a:r>
            <a:r>
              <a:rPr lang="ko-KR" altLang="ko-KR" sz="1200" dirty="0"/>
              <a:t> 변한 것</a:t>
            </a:r>
            <a:endParaRPr lang="ko-KR" altLang="en-US" sz="1200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8400256" y="2996952"/>
            <a:ext cx="0" cy="10801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8035284" y="2247255"/>
            <a:ext cx="1944216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기질수준인산화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603236" y="2411815"/>
            <a:ext cx="432048" cy="1941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80"/>
    </mc:Choice>
    <mc:Fallback xmlns="">
      <p:transition spd="slow" advTm="2278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35560" y="332659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10)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파이루브산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카이네이스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(=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cs typeface="Times New Roman" pitchFamily="18" charset="0"/>
              </a:rPr>
              <a:t>파이루브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산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인산화효소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</a:rPr>
              <a:t>Pyruvate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kinase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)</a:t>
            </a:r>
            <a:endParaRPr lang="ko-KR" altLang="en-US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07568" y="1772816"/>
            <a:ext cx="6084168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PEP ---&gt; </a:t>
            </a:r>
            <a:r>
              <a:rPr lang="en-US" altLang="ko-KR" sz="1600" b="1" dirty="0" err="1"/>
              <a:t>pyruvate</a:t>
            </a:r>
            <a:r>
              <a:rPr lang="en-US" altLang="ko-KR" sz="1600" b="1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이 효소는 </a:t>
            </a:r>
            <a:r>
              <a:rPr lang="en-US" altLang="ko-KR" sz="1600" b="1" dirty="0"/>
              <a:t>ATP </a:t>
            </a:r>
            <a:r>
              <a:rPr lang="ko-KR" altLang="en-US" sz="1600" b="1" dirty="0"/>
              <a:t>생성을 비가역적으로 </a:t>
            </a:r>
            <a:r>
              <a:rPr lang="ko-KR" altLang="en-US" sz="1600" b="1" dirty="0" err="1"/>
              <a:t>촉매한다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solidFill>
                  <a:srgbClr val="0070C0"/>
                </a:solidFill>
              </a:rPr>
              <a:t>알로스테릭</a:t>
            </a:r>
            <a:r>
              <a:rPr lang="ko-KR" altLang="en-US" sz="1600" b="1" dirty="0">
                <a:solidFill>
                  <a:srgbClr val="0070C0"/>
                </a:solidFill>
              </a:rPr>
              <a:t> 억제작용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pic>
        <p:nvPicPr>
          <p:cNvPr id="4" name="Picture 7" descr="18un17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8131" y="980728"/>
            <a:ext cx="3042493" cy="149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포인트가 5개인 별 4"/>
          <p:cNvSpPr/>
          <p:nvPr/>
        </p:nvSpPr>
        <p:spPr>
          <a:xfrm>
            <a:off x="1631504" y="2636912"/>
            <a:ext cx="576064" cy="360040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20"/>
    </mc:Choice>
    <mc:Fallback xmlns="">
      <p:transition spd="slow" advTm="2922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7281080-0463-48D6-BF7B-16C72AA32F3A}"/>
              </a:ext>
            </a:extLst>
          </p:cNvPr>
          <p:cNvSpPr/>
          <p:nvPr/>
        </p:nvSpPr>
        <p:spPr>
          <a:xfrm>
            <a:off x="1582918" y="4869160"/>
            <a:ext cx="9001000" cy="16524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 descr="161"/>
          <p:cNvPicPr>
            <a:picLocks noChangeAspect="1" noChangeArrowheads="1"/>
          </p:cNvPicPr>
          <p:nvPr/>
        </p:nvPicPr>
        <p:blipFill>
          <a:blip r:embed="rId3" cstate="print">
            <a:lum contrast="6000"/>
          </a:blip>
          <a:srcRect/>
          <a:stretch>
            <a:fillRect/>
          </a:stretch>
        </p:blipFill>
        <p:spPr bwMode="auto">
          <a:xfrm>
            <a:off x="7536160" y="158430"/>
            <a:ext cx="2987824" cy="4710730"/>
          </a:xfrm>
          <a:prstGeom prst="rect">
            <a:avLst/>
          </a:prstGeom>
          <a:noFill/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559496" y="789963"/>
            <a:ext cx="6120680" cy="373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1분자의 </a:t>
            </a:r>
            <a:r>
              <a:rPr lang="ko-KR" altLang="en-US" sz="1400" dirty="0" err="1">
                <a:solidFill>
                  <a:srgbClr val="CC0000"/>
                </a:solidFill>
                <a:latin typeface="+mn-ea"/>
              </a:rPr>
              <a:t>글루코스는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2분자의 </a:t>
            </a:r>
            <a:r>
              <a:rPr lang="ko-KR" altLang="en-US" sz="1400" dirty="0" err="1">
                <a:solidFill>
                  <a:srgbClr val="CC0000"/>
                </a:solidFill>
                <a:latin typeface="+mn-ea"/>
              </a:rPr>
              <a:t>파이루브산으로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변환된다 (탄소의 경로)  </a:t>
            </a:r>
            <a:endParaRPr lang="en-US" altLang="ko-KR" sz="1400" dirty="0">
              <a:solidFill>
                <a:srgbClr val="CC0000"/>
              </a:solidFill>
              <a:latin typeface="+mn-ea"/>
            </a:endParaRPr>
          </a:p>
          <a:p>
            <a:pPr algn="just" latinLnBrk="0">
              <a:lnSpc>
                <a:spcPct val="150000"/>
              </a:lnSpc>
            </a:pP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  -</a:t>
            </a:r>
            <a:r>
              <a:rPr lang="en-US" altLang="ko-KR" sz="1400" b="1" dirty="0">
                <a:solidFill>
                  <a:srgbClr val="CC0000"/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2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ATP 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사용</a:t>
            </a:r>
          </a:p>
          <a:p>
            <a:pPr marL="85725" indent="-85725" algn="just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분자의 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ADP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분자의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ATP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로 변환된다 (</a:t>
            </a:r>
            <a:r>
              <a:rPr lang="ko-KR" altLang="en-US" sz="1400" dirty="0" err="1">
                <a:solidFill>
                  <a:srgbClr val="CC0000"/>
                </a:solidFill>
                <a:latin typeface="+mn-ea"/>
              </a:rPr>
              <a:t>인산기의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경로)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 </a:t>
            </a:r>
          </a:p>
          <a:p>
            <a:pPr marL="85725" indent="-85725" algn="just" latinLnBrk="0">
              <a:lnSpc>
                <a:spcPct val="150000"/>
              </a:lnSpc>
            </a:pP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  -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4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ATP 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생성</a:t>
            </a:r>
            <a:endParaRPr lang="en-US" altLang="ko-KR" sz="1400" b="1" dirty="0">
              <a:solidFill>
                <a:srgbClr val="3333FF"/>
              </a:solidFill>
              <a:latin typeface="+mn-ea"/>
            </a:endParaRPr>
          </a:p>
          <a:p>
            <a:pPr algn="just" latinLnBrk="0">
              <a:lnSpc>
                <a:spcPct val="150000"/>
              </a:lnSpc>
            </a:pPr>
            <a:endParaRPr lang="en-US" altLang="ko-KR" sz="1400" dirty="0">
              <a:solidFill>
                <a:srgbClr val="3333FF"/>
              </a:solidFill>
              <a:latin typeface="+mn-ea"/>
            </a:endParaRPr>
          </a:p>
          <a:p>
            <a:pPr algn="just" latinLnBrk="0">
              <a:lnSpc>
                <a:spcPct val="150000"/>
              </a:lnSpc>
            </a:pPr>
            <a:r>
              <a:rPr lang="ko-KR" altLang="en-US" b="1" dirty="0">
                <a:solidFill>
                  <a:srgbClr val="3333FF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3333FF"/>
                </a:solidFill>
                <a:latin typeface="+mn-ea"/>
              </a:rPr>
              <a:t>-</a:t>
            </a:r>
            <a:r>
              <a:rPr lang="ko-KR" altLang="en-US" b="1" dirty="0">
                <a:solidFill>
                  <a:srgbClr val="3333FF"/>
                </a:solidFill>
                <a:latin typeface="+mn-ea"/>
              </a:rPr>
              <a:t>결국 해당과정에서는 </a:t>
            </a:r>
            <a:r>
              <a:rPr lang="en-US" altLang="ko-KR" b="1" u="sng" dirty="0">
                <a:solidFill>
                  <a:srgbClr val="3333FF"/>
                </a:solidFill>
                <a:latin typeface="+mn-ea"/>
              </a:rPr>
              <a:t>2</a:t>
            </a:r>
            <a:r>
              <a:rPr lang="ko-KR" altLang="en-US" b="1" u="sng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b="1" u="sng" dirty="0">
                <a:solidFill>
                  <a:srgbClr val="3333FF"/>
                </a:solidFill>
                <a:latin typeface="+mn-ea"/>
              </a:rPr>
              <a:t>ATP </a:t>
            </a:r>
            <a:r>
              <a:rPr lang="ko-KR" altLang="en-US" b="1" dirty="0">
                <a:solidFill>
                  <a:srgbClr val="3333FF"/>
                </a:solidFill>
                <a:latin typeface="+mn-ea"/>
              </a:rPr>
              <a:t>생성</a:t>
            </a:r>
            <a:r>
              <a:rPr lang="en-US" altLang="ko-KR" b="1" dirty="0">
                <a:solidFill>
                  <a:srgbClr val="3333FF"/>
                </a:solidFill>
                <a:latin typeface="+mn-ea"/>
              </a:rPr>
              <a:t>-</a:t>
            </a:r>
          </a:p>
          <a:p>
            <a:pPr algn="just" latinLnBrk="0">
              <a:lnSpc>
                <a:spcPct val="150000"/>
              </a:lnSpc>
            </a:pPr>
            <a:endParaRPr lang="en-US" altLang="ko-KR" sz="1400" dirty="0">
              <a:solidFill>
                <a:srgbClr val="3333FF"/>
              </a:solidFill>
              <a:latin typeface="+mn-ea"/>
            </a:endParaRPr>
          </a:p>
          <a:p>
            <a:pPr marL="85725" indent="-85725" algn="just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2개의 수소 이온은 2분자의 3-인산 </a:t>
            </a:r>
            <a:r>
              <a:rPr lang="ko-KR" altLang="en-US" sz="1400" dirty="0" err="1">
                <a:solidFill>
                  <a:srgbClr val="CC0000"/>
                </a:solidFill>
                <a:latin typeface="+mn-ea"/>
              </a:rPr>
              <a:t>글리세르알데하이드로부터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 2분자의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NAD</a:t>
            </a:r>
            <a:r>
              <a:rPr lang="en-US" altLang="ko-KR" sz="1400" baseline="30000" dirty="0">
                <a:solidFill>
                  <a:srgbClr val="CC0000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rgbClr val="CC0000"/>
                </a:solidFill>
                <a:latin typeface="+mn-ea"/>
              </a:rPr>
              <a:t>로 전이된다 (전자의 경로) </a:t>
            </a: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 </a:t>
            </a:r>
          </a:p>
          <a:p>
            <a:pPr marL="85725" indent="-85725" algn="just" latinLnBrk="0">
              <a:lnSpc>
                <a:spcPct val="150000"/>
              </a:lnSpc>
            </a:pPr>
            <a:r>
              <a:rPr lang="en-US" altLang="ko-KR" sz="1400" dirty="0">
                <a:solidFill>
                  <a:srgbClr val="CC0000"/>
                </a:solidFill>
                <a:latin typeface="+mn-ea"/>
              </a:rPr>
              <a:t> -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2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sz="1400" b="1" dirty="0">
                <a:solidFill>
                  <a:srgbClr val="3333FF"/>
                </a:solidFill>
                <a:latin typeface="+mn-ea"/>
              </a:rPr>
              <a:t>NADH </a:t>
            </a:r>
            <a:r>
              <a:rPr lang="ko-KR" altLang="en-US" sz="1400" b="1" dirty="0">
                <a:solidFill>
                  <a:srgbClr val="3333FF"/>
                </a:solidFill>
                <a:latin typeface="+mn-ea"/>
              </a:rPr>
              <a:t>생성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이 과정에서 생성된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NADH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는 미토콘드리아의 호흡과정에서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NADH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가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분자 혹은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2.5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분자의 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ATP </a:t>
            </a:r>
            <a:r>
              <a:rPr lang="ko-KR" altLang="en-US" sz="1400" dirty="0">
                <a:solidFill>
                  <a:srgbClr val="3333FF"/>
                </a:solidFill>
                <a:latin typeface="+mn-ea"/>
              </a:rPr>
              <a:t>로 변환</a:t>
            </a:r>
            <a:r>
              <a:rPr lang="en-US" altLang="ko-KR" sz="1400" dirty="0">
                <a:solidFill>
                  <a:srgbClr val="3333FF"/>
                </a:solidFill>
                <a:latin typeface="+mn-ea"/>
              </a:rPr>
              <a:t>)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31504" y="5229200"/>
            <a:ext cx="8856984" cy="9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atinLnBrk="0">
              <a:lnSpc>
                <a:spcPct val="200000"/>
              </a:lnSpc>
            </a:pP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1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글루코스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+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2ATP </a:t>
            </a:r>
            <a:r>
              <a:rPr lang="en-US" altLang="ko-KR" sz="1600" b="1" dirty="0">
                <a:latin typeface="+mn-ea"/>
              </a:rPr>
              <a:t>+ 2NAD</a:t>
            </a:r>
            <a:r>
              <a:rPr lang="en-US" altLang="ko-KR" sz="1600" b="1" baseline="30000" dirty="0">
                <a:latin typeface="+mn-ea"/>
              </a:rPr>
              <a:t>+</a:t>
            </a:r>
            <a:r>
              <a:rPr lang="en-US" altLang="ko-KR" sz="1600" b="1" dirty="0">
                <a:latin typeface="+mn-ea"/>
              </a:rPr>
              <a:t> + 4ADP + 2P</a:t>
            </a:r>
            <a:r>
              <a:rPr lang="en-US" altLang="ko-KR" sz="1600" b="1" baseline="-25000" dirty="0">
                <a:latin typeface="+mn-ea"/>
              </a:rPr>
              <a:t>i  </a:t>
            </a:r>
            <a:r>
              <a:rPr lang="ko-KR" altLang="en-US" sz="1600" b="1" dirty="0">
                <a:latin typeface="+mn-ea"/>
              </a:rPr>
              <a:t>를 사용하여</a:t>
            </a:r>
            <a:r>
              <a:rPr lang="ko-KR" altLang="en-US" sz="1600" b="1" baseline="-25000" dirty="0">
                <a:latin typeface="+mn-ea"/>
              </a:rPr>
              <a:t>            </a:t>
            </a:r>
            <a:r>
              <a:rPr lang="ko-KR" altLang="en-US" sz="1600" b="1" dirty="0">
                <a:latin typeface="+mn-ea"/>
              </a:rPr>
              <a:t> </a:t>
            </a:r>
          </a:p>
          <a:p>
            <a:pPr latinLnBrk="0">
              <a:lnSpc>
                <a:spcPct val="200000"/>
              </a:lnSpc>
            </a:pPr>
            <a:r>
              <a:rPr lang="en-US" altLang="ko-KR" sz="1600" b="1" dirty="0">
                <a:latin typeface="+mn-ea"/>
              </a:rPr>
              <a:t>                              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 2 </a:t>
            </a:r>
            <a:r>
              <a:rPr lang="ko-KR" altLang="en-US" sz="1600" b="1" dirty="0" err="1">
                <a:solidFill>
                  <a:srgbClr val="0070C0"/>
                </a:solidFill>
                <a:latin typeface="+mn-ea"/>
              </a:rPr>
              <a:t>파이루브산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+ 2ADP +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2NADH</a:t>
            </a:r>
            <a:r>
              <a:rPr lang="en-US" altLang="ko-KR" sz="1600" b="1" dirty="0">
                <a:latin typeface="+mn-ea"/>
              </a:rPr>
              <a:t> + 2H</a:t>
            </a:r>
            <a:r>
              <a:rPr lang="en-US" altLang="ko-KR" sz="1600" b="1" baseline="30000" dirty="0">
                <a:latin typeface="+mn-ea"/>
              </a:rPr>
              <a:t>+</a:t>
            </a:r>
            <a:r>
              <a:rPr lang="en-US" altLang="ko-KR" sz="1600" b="1" dirty="0">
                <a:latin typeface="+mn-ea"/>
              </a:rPr>
              <a:t> +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4ATP</a:t>
            </a:r>
            <a:r>
              <a:rPr lang="en-US" altLang="ko-KR" sz="1600" b="1" dirty="0">
                <a:latin typeface="+mn-ea"/>
              </a:rPr>
              <a:t> + 2H</a:t>
            </a:r>
            <a:r>
              <a:rPr lang="en-US" altLang="ko-KR" sz="1600" b="1" baseline="-25000" dirty="0">
                <a:latin typeface="+mn-ea"/>
              </a:rPr>
              <a:t>2</a:t>
            </a:r>
            <a:r>
              <a:rPr lang="en-US" altLang="ko-KR" sz="1600" b="1" dirty="0">
                <a:latin typeface="+mn-ea"/>
              </a:rPr>
              <a:t>O</a:t>
            </a:r>
            <a:r>
              <a:rPr lang="ko-KR" altLang="en-US" sz="1600" b="1" dirty="0">
                <a:latin typeface="+mn-ea"/>
              </a:rPr>
              <a:t>가 생성된다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551852" y="43077"/>
            <a:ext cx="3281668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latinLnBrk="0">
              <a:lnSpc>
                <a:spcPct val="150000"/>
              </a:lnSpc>
            </a:pPr>
            <a:r>
              <a:rPr lang="en-US" altLang="ko-KR" sz="2000" b="1" dirty="0">
                <a:solidFill>
                  <a:srgbClr val="FF0000"/>
                </a:solidFill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</a:rPr>
              <a:t>이 전체 과정을 종합하면</a:t>
            </a:r>
            <a:r>
              <a:rPr lang="en-US" altLang="ko-KR" sz="20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03515" y="4691300"/>
            <a:ext cx="2076209" cy="6099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lnSpc>
                <a:spcPct val="200000"/>
              </a:lnSpc>
            </a:pPr>
            <a:r>
              <a:rPr lang="en-US" altLang="ko-KR" sz="2000" b="1" dirty="0">
                <a:solidFill>
                  <a:srgbClr val="FF0000"/>
                </a:solidFill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</a:rPr>
              <a:t>전체 반응식은</a:t>
            </a:r>
            <a:r>
              <a:rPr lang="en-US" altLang="ko-KR" sz="2000" b="1" dirty="0">
                <a:solidFill>
                  <a:srgbClr val="FF0000"/>
                </a:solidFill>
              </a:rPr>
              <a:t>: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855640" y="6076044"/>
            <a:ext cx="864096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170"/>
    </mc:Choice>
    <mc:Fallback xmlns="">
      <p:transition spd="slow" advTm="7117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31504" y="1196752"/>
            <a:ext cx="7632848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+mn-ea"/>
              </a:rPr>
              <a:t> 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  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(1) </a:t>
            </a:r>
            <a:r>
              <a:rPr lang="en-US" altLang="ko-KR" sz="2000" b="1" dirty="0" err="1">
                <a:solidFill>
                  <a:srgbClr val="0070C0"/>
                </a:solidFill>
                <a:latin typeface="+mn-ea"/>
              </a:rPr>
              <a:t>Hexokinase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              </a:t>
            </a:r>
          </a:p>
          <a:p>
            <a:r>
              <a:rPr lang="en-US" altLang="ko-KR" sz="1600" dirty="0">
                <a:latin typeface="+mn-ea"/>
              </a:rPr>
              <a:t> </a:t>
            </a:r>
          </a:p>
          <a:p>
            <a:r>
              <a:rPr lang="en-US" altLang="ko-KR" dirty="0">
                <a:latin typeface="+mn-ea"/>
              </a:rPr>
              <a:t> 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  (2) 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Phosphofructokinase</a:t>
            </a:r>
            <a:endParaRPr lang="en-US" altLang="ko-KR" b="1" dirty="0">
              <a:solidFill>
                <a:srgbClr val="0070C0"/>
              </a:solidFill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   (3) </a:t>
            </a:r>
            <a:r>
              <a:rPr lang="en-US" altLang="ko-KR" sz="2000" b="1" dirty="0" err="1">
                <a:solidFill>
                  <a:srgbClr val="0070C0"/>
                </a:solidFill>
                <a:latin typeface="+mn-ea"/>
              </a:rPr>
              <a:t>Pyruvate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b="1" dirty="0" err="1">
                <a:solidFill>
                  <a:srgbClr val="0070C0"/>
                </a:solidFill>
                <a:latin typeface="+mn-ea"/>
              </a:rPr>
              <a:t>kinase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19536" y="260648"/>
            <a:ext cx="2808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2000" b="1" dirty="0">
                <a:solidFill>
                  <a:srgbClr val="FF0000"/>
                </a:solidFill>
              </a:rPr>
              <a:t>해당작용의 조절</a:t>
            </a:r>
            <a:r>
              <a:rPr lang="en-US" altLang="ko-KR" sz="2000" b="1" dirty="0">
                <a:solidFill>
                  <a:srgbClr val="FF0000"/>
                </a:solidFill>
              </a:rPr>
              <a:t>:</a:t>
            </a:r>
            <a:r>
              <a:rPr lang="ko-KR" altLang="en-US" sz="2000" b="1" dirty="0"/>
              <a:t>  </a:t>
            </a:r>
            <a:endParaRPr lang="en-US" altLang="ko-KR" sz="2000" b="1" dirty="0"/>
          </a:p>
          <a:p>
            <a:pPr lvl="0"/>
            <a:r>
              <a:rPr lang="ko-KR" altLang="en-US" sz="2000" b="1" dirty="0" err="1"/>
              <a:t>세군데의</a:t>
            </a:r>
            <a:r>
              <a:rPr lang="ko-KR" altLang="en-US" sz="2000" b="1" dirty="0"/>
              <a:t> 조절 부위 </a:t>
            </a:r>
            <a:endParaRPr lang="en-US" altLang="ko-KR" sz="2000" b="1" dirty="0"/>
          </a:p>
        </p:txBody>
      </p:sp>
      <p:pic>
        <p:nvPicPr>
          <p:cNvPr id="4" name="Picture 3" descr="그림10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8303" y="188916"/>
            <a:ext cx="5040313" cy="648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그룹 4"/>
          <p:cNvGrpSpPr/>
          <p:nvPr/>
        </p:nvGrpSpPr>
        <p:grpSpPr>
          <a:xfrm>
            <a:off x="5447928" y="4797152"/>
            <a:ext cx="5040560" cy="1800200"/>
            <a:chOff x="3923928" y="4797152"/>
            <a:chExt cx="5040560" cy="1800200"/>
          </a:xfrm>
        </p:grpSpPr>
        <p:sp>
          <p:nvSpPr>
            <p:cNvPr id="6" name="직사각형 5"/>
            <p:cNvSpPr/>
            <p:nvPr/>
          </p:nvSpPr>
          <p:spPr>
            <a:xfrm>
              <a:off x="3923928" y="4797152"/>
              <a:ext cx="5040560" cy="1800200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23928" y="4797152"/>
              <a:ext cx="31290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3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447928" y="1248508"/>
            <a:ext cx="5040560" cy="936104"/>
            <a:chOff x="3923928" y="1248508"/>
            <a:chExt cx="5040560" cy="936104"/>
          </a:xfrm>
        </p:grpSpPr>
        <p:sp>
          <p:nvSpPr>
            <p:cNvPr id="9" name="직사각형 8"/>
            <p:cNvSpPr/>
            <p:nvPr/>
          </p:nvSpPr>
          <p:spPr>
            <a:xfrm>
              <a:off x="3923928" y="1248508"/>
              <a:ext cx="5040560" cy="936104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923928" y="1268760"/>
              <a:ext cx="31290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2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5447928" y="188640"/>
            <a:ext cx="5040560" cy="936104"/>
            <a:chOff x="3923928" y="188640"/>
            <a:chExt cx="5040560" cy="936104"/>
          </a:xfrm>
        </p:grpSpPr>
        <p:sp>
          <p:nvSpPr>
            <p:cNvPr id="12" name="직사각형 11"/>
            <p:cNvSpPr/>
            <p:nvPr/>
          </p:nvSpPr>
          <p:spPr>
            <a:xfrm>
              <a:off x="3923928" y="188640"/>
              <a:ext cx="5040560" cy="936104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923928" y="188640"/>
              <a:ext cx="31290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1</a:t>
              </a:r>
              <a:endParaRPr lang="ko-KR" altLang="en-US" dirty="0">
                <a:solidFill>
                  <a:srgbClr val="FFFF00"/>
                </a:solidFill>
              </a:endParaRPr>
            </a:p>
          </p:txBody>
        </p:sp>
      </p:grpSp>
      <p:sp>
        <p:nvSpPr>
          <p:cNvPr id="14" name="포인트가 5개인 별 13"/>
          <p:cNvSpPr/>
          <p:nvPr/>
        </p:nvSpPr>
        <p:spPr>
          <a:xfrm>
            <a:off x="2423592" y="3429000"/>
            <a:ext cx="1440160" cy="1368152"/>
          </a:xfrm>
          <a:prstGeom prst="star5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12"/>
    </mc:Choice>
    <mc:Fallback xmlns="">
      <p:transition spd="slow" advTm="46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597E16-39DA-444C-922B-CA9498D5EE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12" t="39423" r="73641" b="38114"/>
          <a:stretch/>
        </p:blipFill>
        <p:spPr>
          <a:xfrm>
            <a:off x="1646563" y="1196752"/>
            <a:ext cx="5719339" cy="4795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C19FAB-D6CF-4300-B074-1F19858FD65F}"/>
              </a:ext>
            </a:extLst>
          </p:cNvPr>
          <p:cNvSpPr txBox="1"/>
          <p:nvPr/>
        </p:nvSpPr>
        <p:spPr>
          <a:xfrm>
            <a:off x="4157722" y="332657"/>
            <a:ext cx="4450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highlight>
                  <a:srgbClr val="FFFF00"/>
                </a:highlight>
              </a:rPr>
              <a:t>&lt;</a:t>
            </a:r>
            <a:r>
              <a:rPr lang="ko-KR" altLang="en-US" sz="2400" b="1" dirty="0">
                <a:highlight>
                  <a:srgbClr val="FFFF00"/>
                </a:highlight>
              </a:rPr>
              <a:t>암세포의 해당과정 특징</a:t>
            </a:r>
            <a:r>
              <a:rPr lang="en-US" altLang="ko-KR" sz="2400" b="1" dirty="0">
                <a:highlight>
                  <a:srgbClr val="FFFF00"/>
                </a:highlight>
              </a:rPr>
              <a:t>&gt;</a:t>
            </a:r>
            <a:endParaRPr lang="ko-KR" altLang="en-US" sz="24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20667-0B31-44BC-8CCE-82AAD886DE07}"/>
              </a:ext>
            </a:extLst>
          </p:cNvPr>
          <p:cNvSpPr txBox="1"/>
          <p:nvPr/>
        </p:nvSpPr>
        <p:spPr>
          <a:xfrm>
            <a:off x="7612135" y="1916832"/>
            <a:ext cx="2952328" cy="3461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600" b="1" dirty="0"/>
              <a:t>많은 양의 포도당을 가짐</a:t>
            </a:r>
            <a:endParaRPr lang="en-US" altLang="ko-KR" sz="1600" b="1" dirty="0"/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en-US" altLang="ko-KR" sz="1600" b="1" dirty="0"/>
              <a:t>Hexokinase</a:t>
            </a:r>
            <a:r>
              <a:rPr lang="ko-KR" altLang="en-US" sz="1600" b="1" dirty="0"/>
              <a:t>가 </a:t>
            </a:r>
            <a:r>
              <a:rPr lang="ko-KR" altLang="en-US" sz="1600" b="1" dirty="0" err="1"/>
              <a:t>과발현되어</a:t>
            </a:r>
            <a:r>
              <a:rPr lang="ko-KR" altLang="en-US" sz="1600" b="1" dirty="0"/>
              <a:t> 있어 해당과정이 정상세포보다 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배 빠름</a:t>
            </a:r>
            <a:endParaRPr lang="en-US" altLang="ko-KR" sz="1600" b="1" dirty="0"/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600" b="1" dirty="0"/>
              <a:t>초기는 혈관이 없는 </a:t>
            </a:r>
            <a:r>
              <a:rPr lang="ko-KR" altLang="en-US" sz="1600" b="1" dirty="0" err="1"/>
              <a:t>저산소</a:t>
            </a:r>
            <a:r>
              <a:rPr lang="ko-KR" altLang="en-US" sz="1600" b="1" dirty="0"/>
              <a:t> 상태로 </a:t>
            </a:r>
            <a:r>
              <a:rPr lang="en-US" altLang="ko-KR" sz="1600" b="1" dirty="0"/>
              <a:t>pyruvate</a:t>
            </a:r>
            <a:r>
              <a:rPr lang="ko-KR" altLang="en-US" sz="1600" b="1" dirty="0"/>
              <a:t>가 </a:t>
            </a:r>
            <a:r>
              <a:rPr lang="en-US" altLang="ko-KR" sz="1600" b="1" dirty="0"/>
              <a:t>lactate</a:t>
            </a:r>
            <a:r>
              <a:rPr lang="ko-KR" altLang="en-US" sz="1600" b="1" dirty="0"/>
              <a:t>로 변환</a:t>
            </a:r>
          </a:p>
        </p:txBody>
      </p:sp>
    </p:spTree>
    <p:extLst>
      <p:ext uri="{BB962C8B-B14F-4D97-AF65-F5344CB8AC3E}">
        <p14:creationId xmlns:p14="http://schemas.microsoft.com/office/powerpoint/2010/main" val="274848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4|30.5|7.9|38.1|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2.8|14.9|22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|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44.7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</Words>
  <Application>Microsoft Office PowerPoint</Application>
  <PresentationFormat>와이드스크린</PresentationFormat>
  <Paragraphs>250</Paragraphs>
  <Slides>37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휴먼매직체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dngh741@gmail.com</dc:creator>
  <cp:lastModifiedBy>dngh741@gmail.com</cp:lastModifiedBy>
  <cp:revision>1</cp:revision>
  <dcterms:created xsi:type="dcterms:W3CDTF">2026-07-06T10:05:01Z</dcterms:created>
  <dcterms:modified xsi:type="dcterms:W3CDTF">2026-07-06T10:05:26Z</dcterms:modified>
</cp:coreProperties>
</file>